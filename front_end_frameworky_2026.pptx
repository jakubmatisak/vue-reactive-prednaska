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Úvod" id="{9182b157-59a1-396f-80ed-1f12654dbab7}">
          <p14:sldIdLst>
            <p14:sldId id="256"/>
            <p14:sldId id="257"/>
          </p14:sldIdLst>
        </p14:section>
        <p14:section name="Reaktivita a DOM" id="{5f420cb3-331f-67a7-78f9-052f35406fab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Frameworky dnes" id="{b8f78a1f-f4e1-fc6b-6e3d-5db385105b55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Vue" id="{e7cadd7c-657f-1284-325a-5e27fec5e88c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Ekosystém" id="{ea2e3ed0-8de0-ee5c-d7c8-8e42ea524303}">
          <p14:sldIdLst>
            <p14:sldId id="283"/>
            <p14:sldId id="284"/>
            <p14:sldId id="285"/>
          </p14:sldIdLst>
        </p14:section>
        <p14:section name="Prax" id="{80ca395c-174c-5bf6-942d-a95ba2187569}">
          <p14:sldIdLst>
            <p14:sldId id="286"/>
            <p14:sldId id="287"/>
            <p14:sldId id="288"/>
            <p14:sldId id="289"/>
          </p14:sldIdLst>
        </p14:section>
        <p14:section name="Záver" id="{ff1b8ae5-09a0-5757-d35d-c36e97ffc816}">
          <p14:sldIdLst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react</c:v>
                </c:pt>
              </c:strCache>
            </c:strRef>
          </c:tx>
          <c:spPr>
            <a:solidFill>
              <a:srgbClr val="149ECA"/>
            </a:solidFill>
            <a:ln w="25400" cap="flat">
              <a:solidFill>
                <a:srgbClr val="149EC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49ECA"/>
              </a:solidFill>
              <a:ln w="9525" cap="flat">
                <a:solidFill>
                  <a:srgbClr val="149E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Sheet1!$A$2:$A$130</c:f>
              <c:multiLvlStrCache>
                <c:ptCount val="129"/>
                <c:lvl>
                  <c:pt idx="0">
                    <c:v>2016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2017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2018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2019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  <c:pt idx="46">
                    <c:v> </c:v>
                  </c:pt>
                  <c:pt idx="47">
                    <c:v> </c:v>
                  </c:pt>
                  <c:pt idx="48">
                    <c:v>2020</c:v>
                  </c:pt>
                  <c:pt idx="49">
                    <c:v> </c:v>
                  </c:pt>
                  <c:pt idx="50">
                    <c:v> </c:v>
                  </c:pt>
                  <c:pt idx="51">
                    <c:v> </c:v>
                  </c:pt>
                  <c:pt idx="52">
                    <c:v> </c:v>
                  </c:pt>
                  <c:pt idx="53">
                    <c:v> </c:v>
                  </c:pt>
                  <c:pt idx="54">
                    <c:v> </c:v>
                  </c:pt>
                  <c:pt idx="55">
                    <c:v> </c:v>
                  </c:pt>
                  <c:pt idx="56">
                    <c:v> </c:v>
                  </c:pt>
                  <c:pt idx="57">
                    <c:v> </c:v>
                  </c:pt>
                  <c:pt idx="58">
                    <c:v> </c:v>
                  </c:pt>
                  <c:pt idx="59">
                    <c:v> </c:v>
                  </c:pt>
                  <c:pt idx="60">
                    <c:v>2021</c:v>
                  </c:pt>
                  <c:pt idx="61">
                    <c:v> </c:v>
                  </c:pt>
                  <c:pt idx="62">
                    <c:v> </c:v>
                  </c:pt>
                  <c:pt idx="63">
                    <c:v> </c:v>
                  </c:pt>
                  <c:pt idx="64">
                    <c:v> </c:v>
                  </c:pt>
                  <c:pt idx="65">
                    <c:v> </c:v>
                  </c:pt>
                  <c:pt idx="66">
                    <c:v> </c:v>
                  </c:pt>
                  <c:pt idx="67">
                    <c:v> </c:v>
                  </c:pt>
                  <c:pt idx="68">
                    <c:v> </c:v>
                  </c:pt>
                  <c:pt idx="69">
                    <c:v> </c:v>
                  </c:pt>
                  <c:pt idx="70">
                    <c:v> </c:v>
                  </c:pt>
                  <c:pt idx="71">
                    <c:v> </c:v>
                  </c:pt>
                  <c:pt idx="72">
                    <c:v>2022</c:v>
                  </c:pt>
                  <c:pt idx="73">
                    <c:v> </c:v>
                  </c:pt>
                  <c:pt idx="74">
                    <c:v> </c:v>
                  </c:pt>
                  <c:pt idx="75">
                    <c:v> </c:v>
                  </c:pt>
                  <c:pt idx="76">
                    <c:v> </c:v>
                  </c:pt>
                  <c:pt idx="77">
                    <c:v> </c:v>
                  </c:pt>
                  <c:pt idx="78">
                    <c:v> </c:v>
                  </c:pt>
                  <c:pt idx="79">
                    <c:v> </c:v>
                  </c:pt>
                  <c:pt idx="80">
                    <c:v> </c:v>
                  </c:pt>
                  <c:pt idx="81">
                    <c:v> </c:v>
                  </c:pt>
                  <c:pt idx="82">
                    <c:v> </c:v>
                  </c:pt>
                  <c:pt idx="83">
                    <c:v> </c:v>
                  </c:pt>
                  <c:pt idx="84">
                    <c:v>2023</c:v>
                  </c:pt>
                  <c:pt idx="85">
                    <c:v> </c:v>
                  </c:pt>
                  <c:pt idx="86">
                    <c:v> </c:v>
                  </c:pt>
                  <c:pt idx="87">
                    <c:v> </c:v>
                  </c:pt>
                  <c:pt idx="88">
                    <c:v> </c:v>
                  </c:pt>
                  <c:pt idx="89">
                    <c:v> </c:v>
                  </c:pt>
                  <c:pt idx="90">
                    <c:v> </c:v>
                  </c:pt>
                  <c:pt idx="91">
                    <c:v> </c:v>
                  </c:pt>
                  <c:pt idx="92">
                    <c:v> </c:v>
                  </c:pt>
                  <c:pt idx="93">
                    <c:v> </c:v>
                  </c:pt>
                  <c:pt idx="94">
                    <c:v> </c:v>
                  </c:pt>
                  <c:pt idx="95">
                    <c:v> </c:v>
                  </c:pt>
                  <c:pt idx="96">
                    <c:v>2024</c:v>
                  </c:pt>
                  <c:pt idx="97">
                    <c:v> </c:v>
                  </c:pt>
                  <c:pt idx="98">
                    <c:v> </c:v>
                  </c:pt>
                  <c:pt idx="99">
                    <c:v> </c:v>
                  </c:pt>
                  <c:pt idx="100">
                    <c:v> </c:v>
                  </c:pt>
                  <c:pt idx="101">
                    <c:v> </c:v>
                  </c:pt>
                  <c:pt idx="102">
                    <c:v> </c:v>
                  </c:pt>
                  <c:pt idx="103">
                    <c:v> </c:v>
                  </c:pt>
                  <c:pt idx="104">
                    <c:v> </c:v>
                  </c:pt>
                  <c:pt idx="105">
                    <c:v> </c:v>
                  </c:pt>
                  <c:pt idx="106">
                    <c:v> </c:v>
                  </c:pt>
                  <c:pt idx="107">
                    <c:v> </c:v>
                  </c:pt>
                  <c:pt idx="108">
                    <c:v>2025</c:v>
                  </c:pt>
                  <c:pt idx="109">
                    <c:v> </c:v>
                  </c:pt>
                  <c:pt idx="110">
                    <c:v> </c:v>
                  </c:pt>
                  <c:pt idx="111">
                    <c:v> </c:v>
                  </c:pt>
                  <c:pt idx="112">
                    <c:v> </c:v>
                  </c:pt>
                  <c:pt idx="113">
                    <c:v> </c:v>
                  </c:pt>
                  <c:pt idx="114">
                    <c:v> </c:v>
                  </c:pt>
                  <c:pt idx="115">
                    <c:v> </c:v>
                  </c:pt>
                  <c:pt idx="116">
                    <c:v> </c:v>
                  </c:pt>
                  <c:pt idx="117">
                    <c:v> </c:v>
                  </c:pt>
                  <c:pt idx="118">
                    <c:v> </c:v>
                  </c:pt>
                  <c:pt idx="119">
                    <c:v> </c:v>
                  </c:pt>
                  <c:pt idx="120">
                    <c:v>2026</c:v>
                  </c:pt>
                  <c:pt idx="121">
                    <c:v> </c:v>
                  </c:pt>
                  <c:pt idx="122">
                    <c:v> </c:v>
                  </c:pt>
                  <c:pt idx="123">
                    <c:v> </c:v>
                  </c:pt>
                  <c:pt idx="124">
                    <c:v> </c:v>
                  </c:pt>
                  <c:pt idx="125">
                    <c:v> </c:v>
                  </c:pt>
                  <c:pt idx="126">
                    <c:v> </c:v>
                  </c:pt>
                  <c:pt idx="127">
                    <c:v> </c:v>
                  </c:pt>
                  <c:pt idx="128">
                    <c:v> </c:v>
                  </c:pt>
                </c:lvl>
              </c:multiLvlStrCache>
            </c:multiLvlStrRef>
          </c:cat>
          <c:val>
            <c:numRef>
              <c:f>Sheet1!$B$2:$B$130</c:f>
              <c:numCache>
                <c:formatCode>General</c:formatCode>
                <c:ptCount val="129"/>
                <c:pt idx="0">
                  <c:v>0.24</c:v>
                </c:pt>
                <c:pt idx="1">
                  <c:v>0.27</c:v>
                </c:pt>
                <c:pt idx="2">
                  <c:v>0.31</c:v>
                </c:pt>
                <c:pt idx="3">
                  <c:v>0.38</c:v>
                </c:pt>
                <c:pt idx="4">
                  <c:v>0.38</c:v>
                </c:pt>
                <c:pt idx="5">
                  <c:v>0.4</c:v>
                </c:pt>
                <c:pt idx="6">
                  <c:v>0.4</c:v>
                </c:pt>
                <c:pt idx="7">
                  <c:v>0.48</c:v>
                </c:pt>
                <c:pt idx="8">
                  <c:v>0.51</c:v>
                </c:pt>
                <c:pt idx="9">
                  <c:v>0.51</c:v>
                </c:pt>
                <c:pt idx="10">
                  <c:v>0.6</c:v>
                </c:pt>
                <c:pt idx="11">
                  <c:v>0.54</c:v>
                </c:pt>
                <c:pt idx="12">
                  <c:v>0.66</c:v>
                </c:pt>
                <c:pt idx="13">
                  <c:v>0.74</c:v>
                </c:pt>
                <c:pt idx="14">
                  <c:v>0.82</c:v>
                </c:pt>
                <c:pt idx="15">
                  <c:v>0.92</c:v>
                </c:pt>
                <c:pt idx="16">
                  <c:v>1.01</c:v>
                </c:pt>
                <c:pt idx="17">
                  <c:v>1.15</c:v>
                </c:pt>
                <c:pt idx="18">
                  <c:v>1.08</c:v>
                </c:pt>
                <c:pt idx="19">
                  <c:v>1.19</c:v>
                </c:pt>
                <c:pt idx="20">
                  <c:v>1.3</c:v>
                </c:pt>
                <c:pt idx="21">
                  <c:v>1.59</c:v>
                </c:pt>
                <c:pt idx="22">
                  <c:v>1.72</c:v>
                </c:pt>
                <c:pt idx="23">
                  <c:v>1.39</c:v>
                </c:pt>
                <c:pt idx="24">
                  <c:v>1.7</c:v>
                </c:pt>
                <c:pt idx="25">
                  <c:v>1.97</c:v>
                </c:pt>
                <c:pt idx="26">
                  <c:v>2.2</c:v>
                </c:pt>
                <c:pt idx="27">
                  <c:v>2.29</c:v>
                </c:pt>
                <c:pt idx="28">
                  <c:v>2.33</c:v>
                </c:pt>
                <c:pt idx="29">
                  <c:v>2.61</c:v>
                </c:pt>
                <c:pt idx="30">
                  <c:v>2.61</c:v>
                </c:pt>
                <c:pt idx="31">
                  <c:v>2.84</c:v>
                </c:pt>
                <c:pt idx="32">
                  <c:v>2.97</c:v>
                </c:pt>
                <c:pt idx="33">
                  <c:v>3.75</c:v>
                </c:pt>
                <c:pt idx="34">
                  <c:v>3.68</c:v>
                </c:pt>
                <c:pt idx="35">
                  <c:v>3.08</c:v>
                </c:pt>
                <c:pt idx="36">
                  <c:v>4.6</c:v>
                </c:pt>
                <c:pt idx="37">
                  <c:v>5.65</c:v>
                </c:pt>
                <c:pt idx="38">
                  <c:v>5.73</c:v>
                </c:pt>
                <c:pt idx="39">
                  <c:v>5.01</c:v>
                </c:pt>
                <c:pt idx="40">
                  <c:v>5.28</c:v>
                </c:pt>
                <c:pt idx="41">
                  <c:v>4.74</c:v>
                </c:pt>
                <c:pt idx="42">
                  <c:v>5.15</c:v>
                </c:pt>
                <c:pt idx="43">
                  <c:v>5.39</c:v>
                </c:pt>
                <c:pt idx="44">
                  <c:v>5.53</c:v>
                </c:pt>
                <c:pt idx="45">
                  <c:v>6.24</c:v>
                </c:pt>
                <c:pt idx="46">
                  <c:v>6.16</c:v>
                </c:pt>
                <c:pt idx="47">
                  <c:v>5.23</c:v>
                </c:pt>
                <c:pt idx="48">
                  <c:v>6.03</c:v>
                </c:pt>
                <c:pt idx="49">
                  <c:v>6.73</c:v>
                </c:pt>
                <c:pt idx="50">
                  <c:v>7.82</c:v>
                </c:pt>
                <c:pt idx="51">
                  <c:v>8.4</c:v>
                </c:pt>
                <c:pt idx="52">
                  <c:v>7.58</c:v>
                </c:pt>
                <c:pt idx="53">
                  <c:v>7.85</c:v>
                </c:pt>
                <c:pt idx="54">
                  <c:v>7.79</c:v>
                </c:pt>
                <c:pt idx="55">
                  <c:v>7.51</c:v>
                </c:pt>
                <c:pt idx="56">
                  <c:v>8.23</c:v>
                </c:pt>
                <c:pt idx="57">
                  <c:v>8.69</c:v>
                </c:pt>
                <c:pt idx="58">
                  <c:v>8.69</c:v>
                </c:pt>
                <c:pt idx="59">
                  <c:v>7.81</c:v>
                </c:pt>
                <c:pt idx="60">
                  <c:v>8.29</c:v>
                </c:pt>
                <c:pt idx="61">
                  <c:v>10.05</c:v>
                </c:pt>
                <c:pt idx="62">
                  <c:v>10.97</c:v>
                </c:pt>
                <c:pt idx="63">
                  <c:v>10.52</c:v>
                </c:pt>
                <c:pt idx="64">
                  <c:v>10.31</c:v>
                </c:pt>
                <c:pt idx="65">
                  <c:v>11.12</c:v>
                </c:pt>
                <c:pt idx="66">
                  <c:v>10.45</c:v>
                </c:pt>
                <c:pt idx="67">
                  <c:v>10.88</c:v>
                </c:pt>
                <c:pt idx="68">
                  <c:v>11.67</c:v>
                </c:pt>
                <c:pt idx="69">
                  <c:v>11.49</c:v>
                </c:pt>
                <c:pt idx="70">
                  <c:v>12.34</c:v>
                </c:pt>
                <c:pt idx="71">
                  <c:v>11.73</c:v>
                </c:pt>
                <c:pt idx="72">
                  <c:v>13.32</c:v>
                </c:pt>
                <c:pt idx="73">
                  <c:v>15.4</c:v>
                </c:pt>
                <c:pt idx="74">
                  <c:v>16.12</c:v>
                </c:pt>
                <c:pt idx="75">
                  <c:v>14.75</c:v>
                </c:pt>
                <c:pt idx="76">
                  <c:v>14.7</c:v>
                </c:pt>
                <c:pt idx="77">
                  <c:v>16.24</c:v>
                </c:pt>
                <c:pt idx="78">
                  <c:v>14.69</c:v>
                </c:pt>
                <c:pt idx="79">
                  <c:v>16.52</c:v>
                </c:pt>
                <c:pt idx="80">
                  <c:v>16.89</c:v>
                </c:pt>
                <c:pt idx="81">
                  <c:v>16.61</c:v>
                </c:pt>
                <c:pt idx="82">
                  <c:v>18.84</c:v>
                </c:pt>
                <c:pt idx="83">
                  <c:v>15.41</c:v>
                </c:pt>
                <c:pt idx="84">
                  <c:v>17.26</c:v>
                </c:pt>
                <c:pt idx="85">
                  <c:v>19.96</c:v>
                </c:pt>
                <c:pt idx="86">
                  <c:v>20.21</c:v>
                </c:pt>
                <c:pt idx="87">
                  <c:v>18.8</c:v>
                </c:pt>
                <c:pt idx="88">
                  <c:v>19.81</c:v>
                </c:pt>
                <c:pt idx="89">
                  <c:v>20.6</c:v>
                </c:pt>
                <c:pt idx="90">
                  <c:v>19.37</c:v>
                </c:pt>
                <c:pt idx="91">
                  <c:v>21.61</c:v>
                </c:pt>
                <c:pt idx="92">
                  <c:v>20.54</c:v>
                </c:pt>
                <c:pt idx="93">
                  <c:v>21.81</c:v>
                </c:pt>
                <c:pt idx="94">
                  <c:v>21.92</c:v>
                </c:pt>
                <c:pt idx="95">
                  <c:v>18.41</c:v>
                </c:pt>
                <c:pt idx="96">
                  <c:v>21.83</c:v>
                </c:pt>
                <c:pt idx="97">
                  <c:v>23.64</c:v>
                </c:pt>
                <c:pt idx="98">
                  <c:v>22.21</c:v>
                </c:pt>
                <c:pt idx="99">
                  <c:v>22.95</c:v>
                </c:pt>
                <c:pt idx="100">
                  <c:v>23.68</c:v>
                </c:pt>
                <c:pt idx="101">
                  <c:v>23.12</c:v>
                </c:pt>
                <c:pt idx="102">
                  <c:v>24.54</c:v>
                </c:pt>
                <c:pt idx="103">
                  <c:v>23.58</c:v>
                </c:pt>
                <c:pt idx="104">
                  <c:v>25</c:v>
                </c:pt>
                <c:pt idx="105">
                  <c:v>26.55</c:v>
                </c:pt>
                <c:pt idx="106">
                  <c:v>26.63</c:v>
                </c:pt>
                <c:pt idx="107">
                  <c:v>23.28</c:v>
                </c:pt>
                <c:pt idx="108">
                  <c:v>26.89</c:v>
                </c:pt>
                <c:pt idx="109">
                  <c:v>31.99</c:v>
                </c:pt>
                <c:pt idx="110">
                  <c:v>32.24</c:v>
                </c:pt>
                <c:pt idx="111">
                  <c:v>37.87</c:v>
                </c:pt>
                <c:pt idx="112">
                  <c:v>37.2</c:v>
                </c:pt>
                <c:pt idx="113">
                  <c:v>43.34</c:v>
                </c:pt>
                <c:pt idx="114">
                  <c:v>42.43</c:v>
                </c:pt>
                <c:pt idx="115">
                  <c:v>43.22</c:v>
                </c:pt>
                <c:pt idx="116">
                  <c:v>44.88</c:v>
                </c:pt>
                <c:pt idx="117">
                  <c:v>48.95</c:v>
                </c:pt>
                <c:pt idx="118">
                  <c:v>49.94</c:v>
                </c:pt>
                <c:pt idx="119">
                  <c:v>53.32</c:v>
                </c:pt>
                <c:pt idx="120">
                  <c:v>62.2</c:v>
                </c:pt>
                <c:pt idx="121">
                  <c:v>83.34</c:v>
                </c:pt>
                <c:pt idx="122">
                  <c:v>104.8</c:v>
                </c:pt>
                <c:pt idx="123">
                  <c:v>122.8</c:v>
                </c:pt>
                <c:pt idx="124">
                  <c:v>126.91</c:v>
                </c:pt>
                <c:pt idx="125">
                  <c:v>144.81</c:v>
                </c:pt>
                <c:pt idx="126">
                  <c:v>160.84</c:v>
                </c:pt>
                <c:pt idx="127">
                  <c:v>164.74</c:v>
                </c:pt>
                <c:pt idx="128">
                  <c:v>196.71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vue</c:v>
                </c:pt>
              </c:strCache>
            </c:strRef>
          </c:tx>
          <c:spPr>
            <a:solidFill>
              <a:srgbClr val="42B883"/>
            </a:solidFill>
            <a:ln w="25400" cap="flat">
              <a:solidFill>
                <a:srgbClr val="42B8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2B883"/>
              </a:solidFill>
              <a:ln w="9525" cap="flat">
                <a:solidFill>
                  <a:srgbClr val="42B8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Sheet1!$A$2:$A$130</c:f>
              <c:multiLvlStrCache>
                <c:ptCount val="129"/>
                <c:lvl>
                  <c:pt idx="0">
                    <c:v>2016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2017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2018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2019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  <c:pt idx="46">
                    <c:v> </c:v>
                  </c:pt>
                  <c:pt idx="47">
                    <c:v> </c:v>
                  </c:pt>
                  <c:pt idx="48">
                    <c:v>2020</c:v>
                  </c:pt>
                  <c:pt idx="49">
                    <c:v> </c:v>
                  </c:pt>
                  <c:pt idx="50">
                    <c:v> </c:v>
                  </c:pt>
                  <c:pt idx="51">
                    <c:v> </c:v>
                  </c:pt>
                  <c:pt idx="52">
                    <c:v> </c:v>
                  </c:pt>
                  <c:pt idx="53">
                    <c:v> </c:v>
                  </c:pt>
                  <c:pt idx="54">
                    <c:v> </c:v>
                  </c:pt>
                  <c:pt idx="55">
                    <c:v> </c:v>
                  </c:pt>
                  <c:pt idx="56">
                    <c:v> </c:v>
                  </c:pt>
                  <c:pt idx="57">
                    <c:v> </c:v>
                  </c:pt>
                  <c:pt idx="58">
                    <c:v> </c:v>
                  </c:pt>
                  <c:pt idx="59">
                    <c:v> </c:v>
                  </c:pt>
                  <c:pt idx="60">
                    <c:v>2021</c:v>
                  </c:pt>
                  <c:pt idx="61">
                    <c:v> </c:v>
                  </c:pt>
                  <c:pt idx="62">
                    <c:v> </c:v>
                  </c:pt>
                  <c:pt idx="63">
                    <c:v> </c:v>
                  </c:pt>
                  <c:pt idx="64">
                    <c:v> </c:v>
                  </c:pt>
                  <c:pt idx="65">
                    <c:v> </c:v>
                  </c:pt>
                  <c:pt idx="66">
                    <c:v> </c:v>
                  </c:pt>
                  <c:pt idx="67">
                    <c:v> </c:v>
                  </c:pt>
                  <c:pt idx="68">
                    <c:v> </c:v>
                  </c:pt>
                  <c:pt idx="69">
                    <c:v> </c:v>
                  </c:pt>
                  <c:pt idx="70">
                    <c:v> </c:v>
                  </c:pt>
                  <c:pt idx="71">
                    <c:v> </c:v>
                  </c:pt>
                  <c:pt idx="72">
                    <c:v>2022</c:v>
                  </c:pt>
                  <c:pt idx="73">
                    <c:v> </c:v>
                  </c:pt>
                  <c:pt idx="74">
                    <c:v> </c:v>
                  </c:pt>
                  <c:pt idx="75">
                    <c:v> </c:v>
                  </c:pt>
                  <c:pt idx="76">
                    <c:v> </c:v>
                  </c:pt>
                  <c:pt idx="77">
                    <c:v> </c:v>
                  </c:pt>
                  <c:pt idx="78">
                    <c:v> </c:v>
                  </c:pt>
                  <c:pt idx="79">
                    <c:v> </c:v>
                  </c:pt>
                  <c:pt idx="80">
                    <c:v> </c:v>
                  </c:pt>
                  <c:pt idx="81">
                    <c:v> </c:v>
                  </c:pt>
                  <c:pt idx="82">
                    <c:v> </c:v>
                  </c:pt>
                  <c:pt idx="83">
                    <c:v> </c:v>
                  </c:pt>
                  <c:pt idx="84">
                    <c:v>2023</c:v>
                  </c:pt>
                  <c:pt idx="85">
                    <c:v> </c:v>
                  </c:pt>
                  <c:pt idx="86">
                    <c:v> </c:v>
                  </c:pt>
                  <c:pt idx="87">
                    <c:v> </c:v>
                  </c:pt>
                  <c:pt idx="88">
                    <c:v> </c:v>
                  </c:pt>
                  <c:pt idx="89">
                    <c:v> </c:v>
                  </c:pt>
                  <c:pt idx="90">
                    <c:v> </c:v>
                  </c:pt>
                  <c:pt idx="91">
                    <c:v> </c:v>
                  </c:pt>
                  <c:pt idx="92">
                    <c:v> </c:v>
                  </c:pt>
                  <c:pt idx="93">
                    <c:v> </c:v>
                  </c:pt>
                  <c:pt idx="94">
                    <c:v> </c:v>
                  </c:pt>
                  <c:pt idx="95">
                    <c:v> </c:v>
                  </c:pt>
                  <c:pt idx="96">
                    <c:v>2024</c:v>
                  </c:pt>
                  <c:pt idx="97">
                    <c:v> </c:v>
                  </c:pt>
                  <c:pt idx="98">
                    <c:v> </c:v>
                  </c:pt>
                  <c:pt idx="99">
                    <c:v> </c:v>
                  </c:pt>
                  <c:pt idx="100">
                    <c:v> </c:v>
                  </c:pt>
                  <c:pt idx="101">
                    <c:v> </c:v>
                  </c:pt>
                  <c:pt idx="102">
                    <c:v> </c:v>
                  </c:pt>
                  <c:pt idx="103">
                    <c:v> </c:v>
                  </c:pt>
                  <c:pt idx="104">
                    <c:v> </c:v>
                  </c:pt>
                  <c:pt idx="105">
                    <c:v> </c:v>
                  </c:pt>
                  <c:pt idx="106">
                    <c:v> </c:v>
                  </c:pt>
                  <c:pt idx="107">
                    <c:v> </c:v>
                  </c:pt>
                  <c:pt idx="108">
                    <c:v>2025</c:v>
                  </c:pt>
                  <c:pt idx="109">
                    <c:v> </c:v>
                  </c:pt>
                  <c:pt idx="110">
                    <c:v> </c:v>
                  </c:pt>
                  <c:pt idx="111">
                    <c:v> </c:v>
                  </c:pt>
                  <c:pt idx="112">
                    <c:v> </c:v>
                  </c:pt>
                  <c:pt idx="113">
                    <c:v> </c:v>
                  </c:pt>
                  <c:pt idx="114">
                    <c:v> </c:v>
                  </c:pt>
                  <c:pt idx="115">
                    <c:v> </c:v>
                  </c:pt>
                  <c:pt idx="116">
                    <c:v> </c:v>
                  </c:pt>
                  <c:pt idx="117">
                    <c:v> </c:v>
                  </c:pt>
                  <c:pt idx="118">
                    <c:v> </c:v>
                  </c:pt>
                  <c:pt idx="119">
                    <c:v> </c:v>
                  </c:pt>
                  <c:pt idx="120">
                    <c:v>2026</c:v>
                  </c:pt>
                  <c:pt idx="121">
                    <c:v> </c:v>
                  </c:pt>
                  <c:pt idx="122">
                    <c:v> </c:v>
                  </c:pt>
                  <c:pt idx="123">
                    <c:v> </c:v>
                  </c:pt>
                  <c:pt idx="124">
                    <c:v> </c:v>
                  </c:pt>
                  <c:pt idx="125">
                    <c:v> </c:v>
                  </c:pt>
                  <c:pt idx="126">
                    <c:v> </c:v>
                  </c:pt>
                  <c:pt idx="127">
                    <c:v> </c:v>
                  </c:pt>
                  <c:pt idx="128">
                    <c:v> </c:v>
                  </c:pt>
                </c:lvl>
              </c:multiLvlStrCache>
            </c:multiLvlStrRef>
          </c:cat>
          <c:val>
            <c:numRef>
              <c:f>Sheet1!$C$2:$C$130</c:f>
              <c:numCache>
                <c:formatCode>General</c:formatCode>
                <c:ptCount val="129"/>
                <c:pt idx="0">
                  <c:v>0.01</c:v>
                </c:pt>
                <c:pt idx="1">
                  <c:v>0.01</c:v>
                </c:pt>
                <c:pt idx="2">
                  <c:v>0.02</c:v>
                </c:pt>
                <c:pt idx="3">
                  <c:v>0.02</c:v>
                </c:pt>
                <c:pt idx="4">
                  <c:v>0.03</c:v>
                </c:pt>
                <c:pt idx="5">
                  <c:v>0.03</c:v>
                </c:pt>
                <c:pt idx="6">
                  <c:v>0.03</c:v>
                </c:pt>
                <c:pt idx="7">
                  <c:v>0.03</c:v>
                </c:pt>
                <c:pt idx="8">
                  <c:v>0.03</c:v>
                </c:pt>
                <c:pt idx="9">
                  <c:v>0.04</c:v>
                </c:pt>
                <c:pt idx="10">
                  <c:v>0.05</c:v>
                </c:pt>
                <c:pt idx="11">
                  <c:v>0.05</c:v>
                </c:pt>
                <c:pt idx="12">
                  <c:v>0.06</c:v>
                </c:pt>
                <c:pt idx="13">
                  <c:v>0.09</c:v>
                </c:pt>
                <c:pt idx="14">
                  <c:v>0.12</c:v>
                </c:pt>
                <c:pt idx="15">
                  <c:v>0.1</c:v>
                </c:pt>
                <c:pt idx="16">
                  <c:v>0.13</c:v>
                </c:pt>
                <c:pt idx="17">
                  <c:v>0.14</c:v>
                </c:pt>
                <c:pt idx="18">
                  <c:v>0.15</c:v>
                </c:pt>
                <c:pt idx="19">
                  <c:v>0.16</c:v>
                </c:pt>
                <c:pt idx="20">
                  <c:v>0.19</c:v>
                </c:pt>
                <c:pt idx="21">
                  <c:v>0.2</c:v>
                </c:pt>
                <c:pt idx="22">
                  <c:v>0.25</c:v>
                </c:pt>
                <c:pt idx="23">
                  <c:v>0.24</c:v>
                </c:pt>
                <c:pt idx="24">
                  <c:v>0.27</c:v>
                </c:pt>
                <c:pt idx="25">
                  <c:v>0.27</c:v>
                </c:pt>
                <c:pt idx="26">
                  <c:v>0.35</c:v>
                </c:pt>
                <c:pt idx="27">
                  <c:v>0.34</c:v>
                </c:pt>
                <c:pt idx="28">
                  <c:v>0.34</c:v>
                </c:pt>
                <c:pt idx="29">
                  <c:v>0.37</c:v>
                </c:pt>
                <c:pt idx="30">
                  <c:v>0.41</c:v>
                </c:pt>
                <c:pt idx="31">
                  <c:v>0.5</c:v>
                </c:pt>
                <c:pt idx="32">
                  <c:v>0.51</c:v>
                </c:pt>
                <c:pt idx="33">
                  <c:v>0.62</c:v>
                </c:pt>
                <c:pt idx="34">
                  <c:v>0.66</c:v>
                </c:pt>
                <c:pt idx="35">
                  <c:v>0.66</c:v>
                </c:pt>
                <c:pt idx="36">
                  <c:v>0.73</c:v>
                </c:pt>
                <c:pt idx="37">
                  <c:v>0.84</c:v>
                </c:pt>
                <c:pt idx="38">
                  <c:v>0.93</c:v>
                </c:pt>
                <c:pt idx="39">
                  <c:v>0.96</c:v>
                </c:pt>
                <c:pt idx="40">
                  <c:v>0.96</c:v>
                </c:pt>
                <c:pt idx="41">
                  <c:v>0.93</c:v>
                </c:pt>
                <c:pt idx="42">
                  <c:v>1.04</c:v>
                </c:pt>
                <c:pt idx="43">
                  <c:v>1.03</c:v>
                </c:pt>
                <c:pt idx="44">
                  <c:v>1.06</c:v>
                </c:pt>
                <c:pt idx="45">
                  <c:v>1.19</c:v>
                </c:pt>
                <c:pt idx="46">
                  <c:v>1.27</c:v>
                </c:pt>
                <c:pt idx="47">
                  <c:v>1.11</c:v>
                </c:pt>
                <c:pt idx="48">
                  <c:v>1.23</c:v>
                </c:pt>
                <c:pt idx="49">
                  <c:v>1.4</c:v>
                </c:pt>
                <c:pt idx="50">
                  <c:v>1.57</c:v>
                </c:pt>
                <c:pt idx="51">
                  <c:v>1.61</c:v>
                </c:pt>
                <c:pt idx="52">
                  <c:v>1.5</c:v>
                </c:pt>
                <c:pt idx="53">
                  <c:v>1.64</c:v>
                </c:pt>
                <c:pt idx="54">
                  <c:v>1.68</c:v>
                </c:pt>
                <c:pt idx="55">
                  <c:v>1.67</c:v>
                </c:pt>
                <c:pt idx="56">
                  <c:v>1.95</c:v>
                </c:pt>
                <c:pt idx="57">
                  <c:v>1.96</c:v>
                </c:pt>
                <c:pt idx="58">
                  <c:v>1.94</c:v>
                </c:pt>
                <c:pt idx="59">
                  <c:v>1.81</c:v>
                </c:pt>
                <c:pt idx="60">
                  <c:v>1.9</c:v>
                </c:pt>
                <c:pt idx="61">
                  <c:v>2.19</c:v>
                </c:pt>
                <c:pt idx="62">
                  <c:v>2.42</c:v>
                </c:pt>
                <c:pt idx="63">
                  <c:v>2.3</c:v>
                </c:pt>
                <c:pt idx="64">
                  <c:v>2.24</c:v>
                </c:pt>
                <c:pt idx="65">
                  <c:v>2.61</c:v>
                </c:pt>
                <c:pt idx="66">
                  <c:v>2.48</c:v>
                </c:pt>
                <c:pt idx="67">
                  <c:v>2.45</c:v>
                </c:pt>
                <c:pt idx="68">
                  <c:v>2.67</c:v>
                </c:pt>
                <c:pt idx="69">
                  <c:v>2.54</c:v>
                </c:pt>
                <c:pt idx="70">
                  <c:v>2.79</c:v>
                </c:pt>
                <c:pt idx="71">
                  <c:v>2.54</c:v>
                </c:pt>
                <c:pt idx="72">
                  <c:v>2.66</c:v>
                </c:pt>
                <c:pt idx="73">
                  <c:v>3.11</c:v>
                </c:pt>
                <c:pt idx="74">
                  <c:v>3.29</c:v>
                </c:pt>
                <c:pt idx="75">
                  <c:v>3.07</c:v>
                </c:pt>
                <c:pt idx="76">
                  <c:v>3.22</c:v>
                </c:pt>
                <c:pt idx="77">
                  <c:v>3.37</c:v>
                </c:pt>
                <c:pt idx="78">
                  <c:v>3.2</c:v>
                </c:pt>
                <c:pt idx="79">
                  <c:v>3.43</c:v>
                </c:pt>
                <c:pt idx="80">
                  <c:v>3.53</c:v>
                </c:pt>
                <c:pt idx="81">
                  <c:v>3.54</c:v>
                </c:pt>
                <c:pt idx="82">
                  <c:v>7.3</c:v>
                </c:pt>
                <c:pt idx="83">
                  <c:v>34.91</c:v>
                </c:pt>
                <c:pt idx="84">
                  <c:v>3.51</c:v>
                </c:pt>
                <c:pt idx="85">
                  <c:v>4</c:v>
                </c:pt>
                <c:pt idx="86">
                  <c:v>4.05</c:v>
                </c:pt>
                <c:pt idx="87">
                  <c:v>3.57</c:v>
                </c:pt>
                <c:pt idx="88">
                  <c:v>3.89</c:v>
                </c:pt>
                <c:pt idx="89">
                  <c:v>4.03</c:v>
                </c:pt>
                <c:pt idx="90">
                  <c:v>3.79</c:v>
                </c:pt>
                <c:pt idx="91">
                  <c:v>3.96</c:v>
                </c:pt>
                <c:pt idx="92">
                  <c:v>3.86</c:v>
                </c:pt>
                <c:pt idx="93">
                  <c:v>4.09</c:v>
                </c:pt>
                <c:pt idx="94">
                  <c:v>4.24</c:v>
                </c:pt>
                <c:pt idx="95">
                  <c:v>3.65</c:v>
                </c:pt>
                <c:pt idx="96">
                  <c:v>4.34</c:v>
                </c:pt>
                <c:pt idx="97">
                  <c:v>4.61</c:v>
                </c:pt>
                <c:pt idx="98">
                  <c:v>4.52</c:v>
                </c:pt>
                <c:pt idx="99">
                  <c:v>4.88</c:v>
                </c:pt>
                <c:pt idx="100">
                  <c:v>4.79</c:v>
                </c:pt>
                <c:pt idx="101">
                  <c:v>4.77</c:v>
                </c:pt>
                <c:pt idx="102">
                  <c:v>5.04</c:v>
                </c:pt>
                <c:pt idx="103">
                  <c:v>4.84</c:v>
                </c:pt>
                <c:pt idx="104">
                  <c:v>5.29</c:v>
                </c:pt>
                <c:pt idx="105">
                  <c:v>5.52</c:v>
                </c:pt>
                <c:pt idx="106">
                  <c:v>5.51</c:v>
                </c:pt>
                <c:pt idx="107">
                  <c:v>4.88</c:v>
                </c:pt>
                <c:pt idx="108">
                  <c:v>5.49</c:v>
                </c:pt>
                <c:pt idx="109">
                  <c:v>6.32</c:v>
                </c:pt>
                <c:pt idx="110">
                  <c:v>6.12</c:v>
                </c:pt>
                <c:pt idx="111">
                  <c:v>6.27</c:v>
                </c:pt>
                <c:pt idx="112">
                  <c:v>6.06</c:v>
                </c:pt>
                <c:pt idx="113">
                  <c:v>7.05</c:v>
                </c:pt>
                <c:pt idx="114">
                  <c:v>6.8</c:v>
                </c:pt>
                <c:pt idx="115">
                  <c:v>7.33</c:v>
                </c:pt>
                <c:pt idx="116">
                  <c:v>7.7</c:v>
                </c:pt>
                <c:pt idx="117">
                  <c:v>7.38</c:v>
                </c:pt>
                <c:pt idx="118">
                  <c:v>7.16</c:v>
                </c:pt>
                <c:pt idx="119">
                  <c:v>7.15</c:v>
                </c:pt>
                <c:pt idx="120">
                  <c:v>7.5</c:v>
                </c:pt>
                <c:pt idx="121">
                  <c:v>8.92</c:v>
                </c:pt>
                <c:pt idx="122">
                  <c:v>10.93</c:v>
                </c:pt>
                <c:pt idx="123">
                  <c:v>11.28</c:v>
                </c:pt>
                <c:pt idx="124">
                  <c:v>11.81</c:v>
                </c:pt>
                <c:pt idx="125">
                  <c:v>13.58</c:v>
                </c:pt>
                <c:pt idx="126">
                  <c:v>14.25</c:v>
                </c:pt>
                <c:pt idx="127">
                  <c:v>14.54</c:v>
                </c:pt>
                <c:pt idx="128">
                  <c:v>17.81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@angular/core</c:v>
                </c:pt>
              </c:strCache>
            </c:strRef>
          </c:tx>
          <c:spPr>
            <a:solidFill>
              <a:srgbClr val="C3002F"/>
            </a:solidFill>
            <a:ln w="25400" cap="flat">
              <a:solidFill>
                <a:srgbClr val="C300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002F"/>
              </a:solidFill>
              <a:ln w="9525" cap="flat">
                <a:solidFill>
                  <a:srgbClr val="C300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Sheet1!$A$2:$A$130</c:f>
              <c:multiLvlStrCache>
                <c:ptCount val="129"/>
                <c:lvl>
                  <c:pt idx="0">
                    <c:v>2016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2017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2018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2019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  <c:pt idx="46">
                    <c:v> </c:v>
                  </c:pt>
                  <c:pt idx="47">
                    <c:v> </c:v>
                  </c:pt>
                  <c:pt idx="48">
                    <c:v>2020</c:v>
                  </c:pt>
                  <c:pt idx="49">
                    <c:v> </c:v>
                  </c:pt>
                  <c:pt idx="50">
                    <c:v> </c:v>
                  </c:pt>
                  <c:pt idx="51">
                    <c:v> </c:v>
                  </c:pt>
                  <c:pt idx="52">
                    <c:v> </c:v>
                  </c:pt>
                  <c:pt idx="53">
                    <c:v> </c:v>
                  </c:pt>
                  <c:pt idx="54">
                    <c:v> </c:v>
                  </c:pt>
                  <c:pt idx="55">
                    <c:v> </c:v>
                  </c:pt>
                  <c:pt idx="56">
                    <c:v> </c:v>
                  </c:pt>
                  <c:pt idx="57">
                    <c:v> </c:v>
                  </c:pt>
                  <c:pt idx="58">
                    <c:v> </c:v>
                  </c:pt>
                  <c:pt idx="59">
                    <c:v> </c:v>
                  </c:pt>
                  <c:pt idx="60">
                    <c:v>2021</c:v>
                  </c:pt>
                  <c:pt idx="61">
                    <c:v> </c:v>
                  </c:pt>
                  <c:pt idx="62">
                    <c:v> </c:v>
                  </c:pt>
                  <c:pt idx="63">
                    <c:v> </c:v>
                  </c:pt>
                  <c:pt idx="64">
                    <c:v> </c:v>
                  </c:pt>
                  <c:pt idx="65">
                    <c:v> </c:v>
                  </c:pt>
                  <c:pt idx="66">
                    <c:v> </c:v>
                  </c:pt>
                  <c:pt idx="67">
                    <c:v> </c:v>
                  </c:pt>
                  <c:pt idx="68">
                    <c:v> </c:v>
                  </c:pt>
                  <c:pt idx="69">
                    <c:v> </c:v>
                  </c:pt>
                  <c:pt idx="70">
                    <c:v> </c:v>
                  </c:pt>
                  <c:pt idx="71">
                    <c:v> </c:v>
                  </c:pt>
                  <c:pt idx="72">
                    <c:v>2022</c:v>
                  </c:pt>
                  <c:pt idx="73">
                    <c:v> </c:v>
                  </c:pt>
                  <c:pt idx="74">
                    <c:v> </c:v>
                  </c:pt>
                  <c:pt idx="75">
                    <c:v> </c:v>
                  </c:pt>
                  <c:pt idx="76">
                    <c:v> </c:v>
                  </c:pt>
                  <c:pt idx="77">
                    <c:v> </c:v>
                  </c:pt>
                  <c:pt idx="78">
                    <c:v> </c:v>
                  </c:pt>
                  <c:pt idx="79">
                    <c:v> </c:v>
                  </c:pt>
                  <c:pt idx="80">
                    <c:v> </c:v>
                  </c:pt>
                  <c:pt idx="81">
                    <c:v> </c:v>
                  </c:pt>
                  <c:pt idx="82">
                    <c:v> </c:v>
                  </c:pt>
                  <c:pt idx="83">
                    <c:v> </c:v>
                  </c:pt>
                  <c:pt idx="84">
                    <c:v>2023</c:v>
                  </c:pt>
                  <c:pt idx="85">
                    <c:v> </c:v>
                  </c:pt>
                  <c:pt idx="86">
                    <c:v> </c:v>
                  </c:pt>
                  <c:pt idx="87">
                    <c:v> </c:v>
                  </c:pt>
                  <c:pt idx="88">
                    <c:v> </c:v>
                  </c:pt>
                  <c:pt idx="89">
                    <c:v> </c:v>
                  </c:pt>
                  <c:pt idx="90">
                    <c:v> </c:v>
                  </c:pt>
                  <c:pt idx="91">
                    <c:v> </c:v>
                  </c:pt>
                  <c:pt idx="92">
                    <c:v> </c:v>
                  </c:pt>
                  <c:pt idx="93">
                    <c:v> </c:v>
                  </c:pt>
                  <c:pt idx="94">
                    <c:v> </c:v>
                  </c:pt>
                  <c:pt idx="95">
                    <c:v> </c:v>
                  </c:pt>
                  <c:pt idx="96">
                    <c:v>2024</c:v>
                  </c:pt>
                  <c:pt idx="97">
                    <c:v> </c:v>
                  </c:pt>
                  <c:pt idx="98">
                    <c:v> </c:v>
                  </c:pt>
                  <c:pt idx="99">
                    <c:v> </c:v>
                  </c:pt>
                  <c:pt idx="100">
                    <c:v> </c:v>
                  </c:pt>
                  <c:pt idx="101">
                    <c:v> </c:v>
                  </c:pt>
                  <c:pt idx="102">
                    <c:v> </c:v>
                  </c:pt>
                  <c:pt idx="103">
                    <c:v> </c:v>
                  </c:pt>
                  <c:pt idx="104">
                    <c:v> </c:v>
                  </c:pt>
                  <c:pt idx="105">
                    <c:v> </c:v>
                  </c:pt>
                  <c:pt idx="106">
                    <c:v> </c:v>
                  </c:pt>
                  <c:pt idx="107">
                    <c:v> </c:v>
                  </c:pt>
                  <c:pt idx="108">
                    <c:v>2025</c:v>
                  </c:pt>
                  <c:pt idx="109">
                    <c:v> </c:v>
                  </c:pt>
                  <c:pt idx="110">
                    <c:v> </c:v>
                  </c:pt>
                  <c:pt idx="111">
                    <c:v> </c:v>
                  </c:pt>
                  <c:pt idx="112">
                    <c:v> </c:v>
                  </c:pt>
                  <c:pt idx="113">
                    <c:v> </c:v>
                  </c:pt>
                  <c:pt idx="114">
                    <c:v> </c:v>
                  </c:pt>
                  <c:pt idx="115">
                    <c:v> </c:v>
                  </c:pt>
                  <c:pt idx="116">
                    <c:v> </c:v>
                  </c:pt>
                  <c:pt idx="117">
                    <c:v> </c:v>
                  </c:pt>
                  <c:pt idx="118">
                    <c:v> </c:v>
                  </c:pt>
                  <c:pt idx="119">
                    <c:v> </c:v>
                  </c:pt>
                  <c:pt idx="120">
                    <c:v>2026</c:v>
                  </c:pt>
                  <c:pt idx="121">
                    <c:v> </c:v>
                  </c:pt>
                  <c:pt idx="122">
                    <c:v> </c:v>
                  </c:pt>
                  <c:pt idx="123">
                    <c:v> </c:v>
                  </c:pt>
                  <c:pt idx="124">
                    <c:v> </c:v>
                  </c:pt>
                  <c:pt idx="125">
                    <c:v> </c:v>
                  </c:pt>
                  <c:pt idx="126">
                    <c:v> </c:v>
                  </c:pt>
                  <c:pt idx="127">
                    <c:v> </c:v>
                  </c:pt>
                  <c:pt idx="128">
                    <c:v> </c:v>
                  </c:pt>
                </c:lvl>
              </c:multiLvlStrCache>
            </c:multiLvlStrRef>
          </c:cat>
          <c:val>
            <c:numRef>
              <c:f>Sheet1!$D$2:$D$130</c:f>
              <c:numCache>
                <c:formatCode>General</c:formatCode>
                <c:ptCount val="1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0.15</c:v>
                </c:pt>
                <c:pt idx="10">
                  <c:v>0.16</c:v>
                </c:pt>
                <c:pt idx="11">
                  <c:v>0.17</c:v>
                </c:pt>
                <c:pt idx="12">
                  <c:v>0.21</c:v>
                </c:pt>
                <c:pt idx="13">
                  <c:v>0.27</c:v>
                </c:pt>
                <c:pt idx="14">
                  <c:v>0.3</c:v>
                </c:pt>
                <c:pt idx="15">
                  <c:v>0.3</c:v>
                </c:pt>
                <c:pt idx="16">
                  <c:v>0.34</c:v>
                </c:pt>
                <c:pt idx="17">
                  <c:v>0.37</c:v>
                </c:pt>
                <c:pt idx="18">
                  <c:v>0.39</c:v>
                </c:pt>
                <c:pt idx="19">
                  <c:v>0.42</c:v>
                </c:pt>
                <c:pt idx="20">
                  <c:v>0.44</c:v>
                </c:pt>
                <c:pt idx="21">
                  <c:v>0.49</c:v>
                </c:pt>
                <c:pt idx="22">
                  <c:v>0.55</c:v>
                </c:pt>
                <c:pt idx="23">
                  <c:v>0.48</c:v>
                </c:pt>
                <c:pt idx="24">
                  <c:v>0.58</c:v>
                </c:pt>
                <c:pt idx="25">
                  <c:v>0.63</c:v>
                </c:pt>
                <c:pt idx="26">
                  <c:v>0.65</c:v>
                </c:pt>
                <c:pt idx="27">
                  <c:v>0.61</c:v>
                </c:pt>
                <c:pt idx="28">
                  <c:v>0.72</c:v>
                </c:pt>
                <c:pt idx="29">
                  <c:v>0.73</c:v>
                </c:pt>
                <c:pt idx="30">
                  <c:v>0.78</c:v>
                </c:pt>
                <c:pt idx="31">
                  <c:v>0.93</c:v>
                </c:pt>
                <c:pt idx="32">
                  <c:v>0.88</c:v>
                </c:pt>
                <c:pt idx="33">
                  <c:v>0.92</c:v>
                </c:pt>
                <c:pt idx="34">
                  <c:v>0.95</c:v>
                </c:pt>
                <c:pt idx="35">
                  <c:v>0.81</c:v>
                </c:pt>
                <c:pt idx="36">
                  <c:v>0.98</c:v>
                </c:pt>
                <c:pt idx="37">
                  <c:v>1.08</c:v>
                </c:pt>
                <c:pt idx="38">
                  <c:v>1.05</c:v>
                </c:pt>
                <c:pt idx="39">
                  <c:v>1.08</c:v>
                </c:pt>
                <c:pt idx="40">
                  <c:v>1.08</c:v>
                </c:pt>
                <c:pt idx="41">
                  <c:v>1.08</c:v>
                </c:pt>
                <c:pt idx="42">
                  <c:v>1.16</c:v>
                </c:pt>
                <c:pt idx="43">
                  <c:v>1.14</c:v>
                </c:pt>
                <c:pt idx="44">
                  <c:v>1.23</c:v>
                </c:pt>
                <c:pt idx="45">
                  <c:v>1.35</c:v>
                </c:pt>
                <c:pt idx="46">
                  <c:v>1.31</c:v>
                </c:pt>
                <c:pt idx="47">
                  <c:v>1.1</c:v>
                </c:pt>
                <c:pt idx="48">
                  <c:v>1.27</c:v>
                </c:pt>
                <c:pt idx="49">
                  <c:v>1.45</c:v>
                </c:pt>
                <c:pt idx="50">
                  <c:v>1.57</c:v>
                </c:pt>
                <c:pt idx="51">
                  <c:v>1.59</c:v>
                </c:pt>
                <c:pt idx="52">
                  <c:v>1.5</c:v>
                </c:pt>
                <c:pt idx="53">
                  <c:v>1.6</c:v>
                </c:pt>
                <c:pt idx="54">
                  <c:v>1.73</c:v>
                </c:pt>
                <c:pt idx="55">
                  <c:v>1.69</c:v>
                </c:pt>
                <c:pt idx="56">
                  <c:v>1.92</c:v>
                </c:pt>
                <c:pt idx="57">
                  <c:v>2</c:v>
                </c:pt>
                <c:pt idx="58">
                  <c:v>2.06</c:v>
                </c:pt>
                <c:pt idx="59">
                  <c:v>1.92</c:v>
                </c:pt>
                <c:pt idx="60">
                  <c:v>2.07</c:v>
                </c:pt>
                <c:pt idx="61">
                  <c:v>2.52</c:v>
                </c:pt>
                <c:pt idx="62">
                  <c:v>2.69</c:v>
                </c:pt>
                <c:pt idx="63">
                  <c:v>2.57</c:v>
                </c:pt>
                <c:pt idx="64">
                  <c:v>2.5</c:v>
                </c:pt>
                <c:pt idx="65">
                  <c:v>2.72</c:v>
                </c:pt>
                <c:pt idx="66">
                  <c:v>2.5</c:v>
                </c:pt>
                <c:pt idx="67">
                  <c:v>2.56</c:v>
                </c:pt>
                <c:pt idx="68">
                  <c:v>2.77</c:v>
                </c:pt>
                <c:pt idx="69">
                  <c:v>2.74</c:v>
                </c:pt>
                <c:pt idx="70">
                  <c:v>2.8</c:v>
                </c:pt>
                <c:pt idx="71">
                  <c:v>2.46</c:v>
                </c:pt>
                <c:pt idx="72">
                  <c:v>2.61</c:v>
                </c:pt>
                <c:pt idx="73">
                  <c:v>3.01</c:v>
                </c:pt>
                <c:pt idx="74">
                  <c:v>3.09</c:v>
                </c:pt>
                <c:pt idx="75">
                  <c:v>2.82</c:v>
                </c:pt>
                <c:pt idx="76">
                  <c:v>2.96</c:v>
                </c:pt>
                <c:pt idx="77">
                  <c:v>3.19</c:v>
                </c:pt>
                <c:pt idx="78">
                  <c:v>2.77</c:v>
                </c:pt>
                <c:pt idx="79">
                  <c:v>3.02</c:v>
                </c:pt>
                <c:pt idx="80">
                  <c:v>3.16</c:v>
                </c:pt>
                <c:pt idx="81">
                  <c:v>3</c:v>
                </c:pt>
                <c:pt idx="82">
                  <c:v>3.31</c:v>
                </c:pt>
                <c:pt idx="83">
                  <c:v>2.72</c:v>
                </c:pt>
                <c:pt idx="84">
                  <c:v>3</c:v>
                </c:pt>
                <c:pt idx="85">
                  <c:v>3.36</c:v>
                </c:pt>
                <c:pt idx="86">
                  <c:v>3.47</c:v>
                </c:pt>
                <c:pt idx="87">
                  <c:v>3.03</c:v>
                </c:pt>
                <c:pt idx="88">
                  <c:v>3.3</c:v>
                </c:pt>
                <c:pt idx="89">
                  <c:v>3.39</c:v>
                </c:pt>
                <c:pt idx="90">
                  <c:v>3.17</c:v>
                </c:pt>
                <c:pt idx="91">
                  <c:v>3.26</c:v>
                </c:pt>
                <c:pt idx="92">
                  <c:v>3.2</c:v>
                </c:pt>
                <c:pt idx="93">
                  <c:v>3.26</c:v>
                </c:pt>
                <c:pt idx="94">
                  <c:v>3.22</c:v>
                </c:pt>
                <c:pt idx="95">
                  <c:v>2.65</c:v>
                </c:pt>
                <c:pt idx="96">
                  <c:v>3.17</c:v>
                </c:pt>
                <c:pt idx="97">
                  <c:v>3.46</c:v>
                </c:pt>
                <c:pt idx="98">
                  <c:v>3.22</c:v>
                </c:pt>
                <c:pt idx="99">
                  <c:v>3.39</c:v>
                </c:pt>
                <c:pt idx="100">
                  <c:v>3.34</c:v>
                </c:pt>
                <c:pt idx="101">
                  <c:v>3.28</c:v>
                </c:pt>
                <c:pt idx="102">
                  <c:v>3.44</c:v>
                </c:pt>
                <c:pt idx="103">
                  <c:v>3.25</c:v>
                </c:pt>
                <c:pt idx="104">
                  <c:v>3.41</c:v>
                </c:pt>
                <c:pt idx="105">
                  <c:v>3.7</c:v>
                </c:pt>
                <c:pt idx="106">
                  <c:v>3.67</c:v>
                </c:pt>
                <c:pt idx="107">
                  <c:v>3</c:v>
                </c:pt>
                <c:pt idx="108">
                  <c:v>3.51</c:v>
                </c:pt>
                <c:pt idx="109">
                  <c:v>3.91</c:v>
                </c:pt>
                <c:pt idx="110">
                  <c:v>3.79</c:v>
                </c:pt>
                <c:pt idx="111">
                  <c:v>3.93</c:v>
                </c:pt>
                <c:pt idx="112">
                  <c:v>3.79</c:v>
                </c:pt>
                <c:pt idx="113">
                  <c:v>4.09</c:v>
                </c:pt>
                <c:pt idx="114">
                  <c:v>4.17</c:v>
                </c:pt>
                <c:pt idx="115">
                  <c:v>3.85</c:v>
                </c:pt>
                <c:pt idx="116">
                  <c:v>4.15</c:v>
                </c:pt>
                <c:pt idx="117">
                  <c:v>4.28</c:v>
                </c:pt>
                <c:pt idx="118">
                  <c:v>4.1</c:v>
                </c:pt>
                <c:pt idx="119">
                  <c:v>3.85</c:v>
                </c:pt>
                <c:pt idx="120">
                  <c:v>3.94</c:v>
                </c:pt>
                <c:pt idx="121">
                  <c:v>4.69</c:v>
                </c:pt>
                <c:pt idx="122">
                  <c:v>5.24</c:v>
                </c:pt>
                <c:pt idx="123">
                  <c:v>5.19</c:v>
                </c:pt>
                <c:pt idx="124">
                  <c:v>5.07</c:v>
                </c:pt>
                <c:pt idx="125">
                  <c:v>5.95</c:v>
                </c:pt>
                <c:pt idx="126">
                  <c:v>6.02</c:v>
                </c:pt>
                <c:pt idx="127">
                  <c:v>5.69</c:v>
                </c:pt>
                <c:pt idx="128">
                  <c:v>6.8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svelte</c:v>
                </c:pt>
              </c:strCache>
            </c:strRef>
          </c:tx>
          <c:spPr>
            <a:solidFill>
              <a:srgbClr val="F59E0B"/>
            </a:solidFill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Sheet1!$A$2:$A$130</c:f>
              <c:multiLvlStrCache>
                <c:ptCount val="129"/>
                <c:lvl>
                  <c:pt idx="0">
                    <c:v>2016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  <c:pt idx="7">
                    <c:v> </c:v>
                  </c:pt>
                  <c:pt idx="8">
                    <c:v> </c:v>
                  </c:pt>
                  <c:pt idx="9">
                    <c:v> </c:v>
                  </c:pt>
                  <c:pt idx="10">
                    <c:v> </c:v>
                  </c:pt>
                  <c:pt idx="11">
                    <c:v> </c:v>
                  </c:pt>
                  <c:pt idx="12">
                    <c:v>2017</c:v>
                  </c:pt>
                  <c:pt idx="13">
                    <c:v> </c:v>
                  </c:pt>
                  <c:pt idx="14">
                    <c:v> </c:v>
                  </c:pt>
                  <c:pt idx="15">
                    <c:v> </c:v>
                  </c:pt>
                  <c:pt idx="16">
                    <c:v> </c:v>
                  </c:pt>
                  <c:pt idx="17">
                    <c:v> </c:v>
                  </c:pt>
                  <c:pt idx="18">
                    <c:v> </c:v>
                  </c:pt>
                  <c:pt idx="19">
                    <c:v> </c:v>
                  </c:pt>
                  <c:pt idx="20">
                    <c:v> </c:v>
                  </c:pt>
                  <c:pt idx="21">
                    <c:v> </c:v>
                  </c:pt>
                  <c:pt idx="22">
                    <c:v> </c:v>
                  </c:pt>
                  <c:pt idx="23">
                    <c:v> </c:v>
                  </c:pt>
                  <c:pt idx="24">
                    <c:v>2018</c:v>
                  </c:pt>
                  <c:pt idx="25">
                    <c:v> </c:v>
                  </c:pt>
                  <c:pt idx="26">
                    <c:v> </c:v>
                  </c:pt>
                  <c:pt idx="27">
                    <c:v> </c:v>
                  </c:pt>
                  <c:pt idx="28">
                    <c:v> </c:v>
                  </c:pt>
                  <c:pt idx="29">
                    <c:v> </c:v>
                  </c:pt>
                  <c:pt idx="30">
                    <c:v> </c:v>
                  </c:pt>
                  <c:pt idx="31">
                    <c:v> </c:v>
                  </c:pt>
                  <c:pt idx="32">
                    <c:v> </c:v>
                  </c:pt>
                  <c:pt idx="33">
                    <c:v> </c:v>
                  </c:pt>
                  <c:pt idx="34">
                    <c:v> </c:v>
                  </c:pt>
                  <c:pt idx="35">
                    <c:v> </c:v>
                  </c:pt>
                  <c:pt idx="36">
                    <c:v>2019</c:v>
                  </c:pt>
                  <c:pt idx="37">
                    <c:v> </c:v>
                  </c:pt>
                  <c:pt idx="38">
                    <c:v> </c:v>
                  </c:pt>
                  <c:pt idx="39">
                    <c:v> </c:v>
                  </c:pt>
                  <c:pt idx="40">
                    <c:v> </c:v>
                  </c:pt>
                  <c:pt idx="41">
                    <c:v> </c:v>
                  </c:pt>
                  <c:pt idx="42">
                    <c:v> </c:v>
                  </c:pt>
                  <c:pt idx="43">
                    <c:v> </c:v>
                  </c:pt>
                  <c:pt idx="44">
                    <c:v> </c:v>
                  </c:pt>
                  <c:pt idx="45">
                    <c:v> </c:v>
                  </c:pt>
                  <c:pt idx="46">
                    <c:v> </c:v>
                  </c:pt>
                  <c:pt idx="47">
                    <c:v> </c:v>
                  </c:pt>
                  <c:pt idx="48">
                    <c:v>2020</c:v>
                  </c:pt>
                  <c:pt idx="49">
                    <c:v> </c:v>
                  </c:pt>
                  <c:pt idx="50">
                    <c:v> </c:v>
                  </c:pt>
                  <c:pt idx="51">
                    <c:v> </c:v>
                  </c:pt>
                  <c:pt idx="52">
                    <c:v> </c:v>
                  </c:pt>
                  <c:pt idx="53">
                    <c:v> </c:v>
                  </c:pt>
                  <c:pt idx="54">
                    <c:v> </c:v>
                  </c:pt>
                  <c:pt idx="55">
                    <c:v> </c:v>
                  </c:pt>
                  <c:pt idx="56">
                    <c:v> </c:v>
                  </c:pt>
                  <c:pt idx="57">
                    <c:v> </c:v>
                  </c:pt>
                  <c:pt idx="58">
                    <c:v> </c:v>
                  </c:pt>
                  <c:pt idx="59">
                    <c:v> </c:v>
                  </c:pt>
                  <c:pt idx="60">
                    <c:v>2021</c:v>
                  </c:pt>
                  <c:pt idx="61">
                    <c:v> </c:v>
                  </c:pt>
                  <c:pt idx="62">
                    <c:v> </c:v>
                  </c:pt>
                  <c:pt idx="63">
                    <c:v> </c:v>
                  </c:pt>
                  <c:pt idx="64">
                    <c:v> </c:v>
                  </c:pt>
                  <c:pt idx="65">
                    <c:v> </c:v>
                  </c:pt>
                  <c:pt idx="66">
                    <c:v> </c:v>
                  </c:pt>
                  <c:pt idx="67">
                    <c:v> </c:v>
                  </c:pt>
                  <c:pt idx="68">
                    <c:v> </c:v>
                  </c:pt>
                  <c:pt idx="69">
                    <c:v> </c:v>
                  </c:pt>
                  <c:pt idx="70">
                    <c:v> </c:v>
                  </c:pt>
                  <c:pt idx="71">
                    <c:v> </c:v>
                  </c:pt>
                  <c:pt idx="72">
                    <c:v>2022</c:v>
                  </c:pt>
                  <c:pt idx="73">
                    <c:v> </c:v>
                  </c:pt>
                  <c:pt idx="74">
                    <c:v> </c:v>
                  </c:pt>
                  <c:pt idx="75">
                    <c:v> </c:v>
                  </c:pt>
                  <c:pt idx="76">
                    <c:v> </c:v>
                  </c:pt>
                  <c:pt idx="77">
                    <c:v> </c:v>
                  </c:pt>
                  <c:pt idx="78">
                    <c:v> </c:v>
                  </c:pt>
                  <c:pt idx="79">
                    <c:v> </c:v>
                  </c:pt>
                  <c:pt idx="80">
                    <c:v> </c:v>
                  </c:pt>
                  <c:pt idx="81">
                    <c:v> </c:v>
                  </c:pt>
                  <c:pt idx="82">
                    <c:v> </c:v>
                  </c:pt>
                  <c:pt idx="83">
                    <c:v> </c:v>
                  </c:pt>
                  <c:pt idx="84">
                    <c:v>2023</c:v>
                  </c:pt>
                  <c:pt idx="85">
                    <c:v> </c:v>
                  </c:pt>
                  <c:pt idx="86">
                    <c:v> </c:v>
                  </c:pt>
                  <c:pt idx="87">
                    <c:v> </c:v>
                  </c:pt>
                  <c:pt idx="88">
                    <c:v> </c:v>
                  </c:pt>
                  <c:pt idx="89">
                    <c:v> </c:v>
                  </c:pt>
                  <c:pt idx="90">
                    <c:v> </c:v>
                  </c:pt>
                  <c:pt idx="91">
                    <c:v> </c:v>
                  </c:pt>
                  <c:pt idx="92">
                    <c:v> </c:v>
                  </c:pt>
                  <c:pt idx="93">
                    <c:v> </c:v>
                  </c:pt>
                  <c:pt idx="94">
                    <c:v> </c:v>
                  </c:pt>
                  <c:pt idx="95">
                    <c:v> </c:v>
                  </c:pt>
                  <c:pt idx="96">
                    <c:v>2024</c:v>
                  </c:pt>
                  <c:pt idx="97">
                    <c:v> </c:v>
                  </c:pt>
                  <c:pt idx="98">
                    <c:v> </c:v>
                  </c:pt>
                  <c:pt idx="99">
                    <c:v> </c:v>
                  </c:pt>
                  <c:pt idx="100">
                    <c:v> </c:v>
                  </c:pt>
                  <c:pt idx="101">
                    <c:v> </c:v>
                  </c:pt>
                  <c:pt idx="102">
                    <c:v> </c:v>
                  </c:pt>
                  <c:pt idx="103">
                    <c:v> </c:v>
                  </c:pt>
                  <c:pt idx="104">
                    <c:v> </c:v>
                  </c:pt>
                  <c:pt idx="105">
                    <c:v> </c:v>
                  </c:pt>
                  <c:pt idx="106">
                    <c:v> </c:v>
                  </c:pt>
                  <c:pt idx="107">
                    <c:v> </c:v>
                  </c:pt>
                  <c:pt idx="108">
                    <c:v>2025</c:v>
                  </c:pt>
                  <c:pt idx="109">
                    <c:v> </c:v>
                  </c:pt>
                  <c:pt idx="110">
                    <c:v> </c:v>
                  </c:pt>
                  <c:pt idx="111">
                    <c:v> </c:v>
                  </c:pt>
                  <c:pt idx="112">
                    <c:v> </c:v>
                  </c:pt>
                  <c:pt idx="113">
                    <c:v> </c:v>
                  </c:pt>
                  <c:pt idx="114">
                    <c:v> </c:v>
                  </c:pt>
                  <c:pt idx="115">
                    <c:v> </c:v>
                  </c:pt>
                  <c:pt idx="116">
                    <c:v> </c:v>
                  </c:pt>
                  <c:pt idx="117">
                    <c:v> </c:v>
                  </c:pt>
                  <c:pt idx="118">
                    <c:v> </c:v>
                  </c:pt>
                  <c:pt idx="119">
                    <c:v> </c:v>
                  </c:pt>
                  <c:pt idx="120">
                    <c:v>2026</c:v>
                  </c:pt>
                  <c:pt idx="121">
                    <c:v> </c:v>
                  </c:pt>
                  <c:pt idx="122">
                    <c:v> </c:v>
                  </c:pt>
                  <c:pt idx="123">
                    <c:v> </c:v>
                  </c:pt>
                  <c:pt idx="124">
                    <c:v> </c:v>
                  </c:pt>
                  <c:pt idx="125">
                    <c:v> </c:v>
                  </c:pt>
                  <c:pt idx="126">
                    <c:v> </c:v>
                  </c:pt>
                  <c:pt idx="127">
                    <c:v> </c:v>
                  </c:pt>
                  <c:pt idx="128">
                    <c:v> </c:v>
                  </c:pt>
                </c:lvl>
              </c:multiLvlStrCache>
            </c:multiLvlStrRef>
          </c:cat>
          <c:val>
            <c:numRef>
              <c:f>Sheet1!$E$2:$E$130</c:f>
              <c:numCache>
                <c:formatCode>General</c:formatCode>
                <c:ptCount val="1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0.01</c:v>
                </c:pt>
                <c:pt idx="27">
                  <c:v>0.01</c:v>
                </c:pt>
                <c:pt idx="28">
                  <c:v>0.01</c:v>
                </c:pt>
                <c:pt idx="29">
                  <c:v>0</c:v>
                </c:pt>
                <c:pt idx="30">
                  <c:v>0.01</c:v>
                </c:pt>
                <c:pt idx="31">
                  <c:v>0.01</c:v>
                </c:pt>
                <c:pt idx="32">
                  <c:v>0.01</c:v>
                </c:pt>
                <c:pt idx="33">
                  <c:v>0.01</c:v>
                </c:pt>
                <c:pt idx="34">
                  <c:v>0.01</c:v>
                </c:pt>
                <c:pt idx="35">
                  <c:v>0.02</c:v>
                </c:pt>
                <c:pt idx="36">
                  <c:v>0.02</c:v>
                </c:pt>
                <c:pt idx="37">
                  <c:v>0.02</c:v>
                </c:pt>
                <c:pt idx="38">
                  <c:v>0.02</c:v>
                </c:pt>
                <c:pt idx="39">
                  <c:v>0.02</c:v>
                </c:pt>
                <c:pt idx="40">
                  <c:v>0.03</c:v>
                </c:pt>
                <c:pt idx="41">
                  <c:v>0.02</c:v>
                </c:pt>
                <c:pt idx="42">
                  <c:v>0.02</c:v>
                </c:pt>
                <c:pt idx="43">
                  <c:v>0.02</c:v>
                </c:pt>
                <c:pt idx="44">
                  <c:v>0.02</c:v>
                </c:pt>
                <c:pt idx="45">
                  <c:v>0.03</c:v>
                </c:pt>
                <c:pt idx="46">
                  <c:v>0.04</c:v>
                </c:pt>
                <c:pt idx="47">
                  <c:v>0.03</c:v>
                </c:pt>
                <c:pt idx="48">
                  <c:v>0.04</c:v>
                </c:pt>
                <c:pt idx="49">
                  <c:v>0.04</c:v>
                </c:pt>
                <c:pt idx="50">
                  <c:v>0.05</c:v>
                </c:pt>
                <c:pt idx="51">
                  <c:v>0.05</c:v>
                </c:pt>
                <c:pt idx="52">
                  <c:v>0.06</c:v>
                </c:pt>
                <c:pt idx="53">
                  <c:v>0.07</c:v>
                </c:pt>
                <c:pt idx="54">
                  <c:v>0.07</c:v>
                </c:pt>
                <c:pt idx="55">
                  <c:v>0.08</c:v>
                </c:pt>
                <c:pt idx="56">
                  <c:v>0.1</c:v>
                </c:pt>
                <c:pt idx="57">
                  <c:v>0.11</c:v>
                </c:pt>
                <c:pt idx="58">
                  <c:v>0.1</c:v>
                </c:pt>
                <c:pt idx="59">
                  <c:v>0.1</c:v>
                </c:pt>
                <c:pt idx="60">
                  <c:v>0.11</c:v>
                </c:pt>
                <c:pt idx="61">
                  <c:v>0.13</c:v>
                </c:pt>
                <c:pt idx="62">
                  <c:v>0.15</c:v>
                </c:pt>
                <c:pt idx="63">
                  <c:v>0.15</c:v>
                </c:pt>
                <c:pt idx="64">
                  <c:v>0.2</c:v>
                </c:pt>
                <c:pt idx="65">
                  <c:v>0.15</c:v>
                </c:pt>
                <c:pt idx="66">
                  <c:v>0.16</c:v>
                </c:pt>
                <c:pt idx="67">
                  <c:v>0.18</c:v>
                </c:pt>
                <c:pt idx="68">
                  <c:v>0.19</c:v>
                </c:pt>
                <c:pt idx="69">
                  <c:v>0.2</c:v>
                </c:pt>
                <c:pt idx="70">
                  <c:v>0.21</c:v>
                </c:pt>
                <c:pt idx="71">
                  <c:v>0.21</c:v>
                </c:pt>
                <c:pt idx="72">
                  <c:v>0.25</c:v>
                </c:pt>
                <c:pt idx="73">
                  <c:v>0.28</c:v>
                </c:pt>
                <c:pt idx="74">
                  <c:v>0.27</c:v>
                </c:pt>
                <c:pt idx="75">
                  <c:v>0.28</c:v>
                </c:pt>
                <c:pt idx="76">
                  <c:v>0.31</c:v>
                </c:pt>
                <c:pt idx="77">
                  <c:v>0.32</c:v>
                </c:pt>
                <c:pt idx="78">
                  <c:v>0.35</c:v>
                </c:pt>
                <c:pt idx="79">
                  <c:v>0.36</c:v>
                </c:pt>
                <c:pt idx="80">
                  <c:v>0.38</c:v>
                </c:pt>
                <c:pt idx="81">
                  <c:v>0.39</c:v>
                </c:pt>
                <c:pt idx="82">
                  <c:v>11.49</c:v>
                </c:pt>
                <c:pt idx="83">
                  <c:v>0.39</c:v>
                </c:pt>
                <c:pt idx="84">
                  <c:v>0.45</c:v>
                </c:pt>
                <c:pt idx="85">
                  <c:v>0.49</c:v>
                </c:pt>
                <c:pt idx="86">
                  <c:v>0.53</c:v>
                </c:pt>
                <c:pt idx="87">
                  <c:v>0.48</c:v>
                </c:pt>
                <c:pt idx="88">
                  <c:v>0.52</c:v>
                </c:pt>
                <c:pt idx="89">
                  <c:v>2.97</c:v>
                </c:pt>
                <c:pt idx="90">
                  <c:v>0.61</c:v>
                </c:pt>
                <c:pt idx="91">
                  <c:v>0.66</c:v>
                </c:pt>
                <c:pt idx="92">
                  <c:v>0.7</c:v>
                </c:pt>
                <c:pt idx="93">
                  <c:v>0.73</c:v>
                </c:pt>
                <c:pt idx="94">
                  <c:v>0.97</c:v>
                </c:pt>
                <c:pt idx="95">
                  <c:v>0.72</c:v>
                </c:pt>
                <c:pt idx="96">
                  <c:v>0.87</c:v>
                </c:pt>
                <c:pt idx="97">
                  <c:v>0.97</c:v>
                </c:pt>
                <c:pt idx="98">
                  <c:v>0.92</c:v>
                </c:pt>
                <c:pt idx="99">
                  <c:v>1.04</c:v>
                </c:pt>
                <c:pt idx="100">
                  <c:v>1.05</c:v>
                </c:pt>
                <c:pt idx="101">
                  <c:v>1.09</c:v>
                </c:pt>
                <c:pt idx="102">
                  <c:v>1.13</c:v>
                </c:pt>
                <c:pt idx="103">
                  <c:v>1.19</c:v>
                </c:pt>
                <c:pt idx="104">
                  <c:v>1.32</c:v>
                </c:pt>
                <c:pt idx="105">
                  <c:v>1.44</c:v>
                </c:pt>
                <c:pt idx="106">
                  <c:v>1.65</c:v>
                </c:pt>
                <c:pt idx="107">
                  <c:v>1.73</c:v>
                </c:pt>
                <c:pt idx="108">
                  <c:v>1.92</c:v>
                </c:pt>
                <c:pt idx="109">
                  <c:v>2.13</c:v>
                </c:pt>
                <c:pt idx="110">
                  <c:v>1.85</c:v>
                </c:pt>
                <c:pt idx="111">
                  <c:v>1.77</c:v>
                </c:pt>
                <c:pt idx="112">
                  <c:v>1.71</c:v>
                </c:pt>
                <c:pt idx="113">
                  <c:v>1.93</c:v>
                </c:pt>
                <c:pt idx="114">
                  <c:v>1.83</c:v>
                </c:pt>
                <c:pt idx="115">
                  <c:v>2.37</c:v>
                </c:pt>
                <c:pt idx="116">
                  <c:v>2.28</c:v>
                </c:pt>
                <c:pt idx="117">
                  <c:v>2.01</c:v>
                </c:pt>
                <c:pt idx="118">
                  <c:v>1.96</c:v>
                </c:pt>
                <c:pt idx="119">
                  <c:v>1.93</c:v>
                </c:pt>
                <c:pt idx="120">
                  <c:v>2.28</c:v>
                </c:pt>
                <c:pt idx="121">
                  <c:v>2.83</c:v>
                </c:pt>
                <c:pt idx="122">
                  <c:v>3.92</c:v>
                </c:pt>
                <c:pt idx="123">
                  <c:v>4.23</c:v>
                </c:pt>
                <c:pt idx="124">
                  <c:v>4.64</c:v>
                </c:pt>
                <c:pt idx="125">
                  <c:v>4.94</c:v>
                </c:pt>
                <c:pt idx="126">
                  <c:v>5.28</c:v>
                </c:pt>
                <c:pt idx="127">
                  <c:v>5.46</c:v>
                </c:pt>
                <c:pt idx="128">
                  <c:v>6.53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+mn-lt"/>
                  </a:rPr>
                  <a:t>mil. stiahnutí / týždeň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4748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Angular</c:v>
                </c:pt>
              </c:strCache>
            </c:strRef>
          </c:tx>
          <c:spPr>
            <a:solidFill>
              <a:srgbClr val="DD0031"/>
            </a:solidFill>
            <a:ln w="38100" cap="flat">
              <a:solidFill>
                <a:srgbClr val="DD003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D0031"/>
              </a:solidFill>
              <a:ln w="19050" cap="flat">
                <a:solidFill>
                  <a:srgbClr val="DD003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</c:v>
                </c:pt>
                <c:pt idx="1">
                  <c:v>0.8</c:v>
                </c:pt>
                <c:pt idx="2">
                  <c:v>1.9</c:v>
                </c:pt>
                <c:pt idx="3">
                  <c:v>3.5</c:v>
                </c:pt>
                <c:pt idx="4">
                  <c:v>5</c:v>
                </c:pt>
                <c:pt idx="5">
                  <c:v>6</c:v>
                </c:pt>
                <c:pt idx="6">
                  <c:v>6.4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React</c:v>
                </c:pt>
              </c:strCache>
            </c:strRef>
          </c:tx>
          <c:spPr>
            <a:solidFill>
              <a:srgbClr val="149ECA"/>
            </a:solidFill>
            <a:ln w="38100" cap="flat">
              <a:solidFill>
                <a:srgbClr val="149EC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49ECA"/>
              </a:solidFill>
              <a:ln w="19050" cap="flat">
                <a:solidFill>
                  <a:srgbClr val="149EC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</c:v>
                </c:pt>
                <c:pt idx="1">
                  <c:v>0.9</c:v>
                </c:pt>
                <c:pt idx="2">
                  <c:v>1.8</c:v>
                </c:pt>
                <c:pt idx="3">
                  <c:v>2.7</c:v>
                </c:pt>
                <c:pt idx="4">
                  <c:v>3.4</c:v>
                </c:pt>
                <c:pt idx="5">
                  <c:v>3.9</c:v>
                </c:pt>
                <c:pt idx="6">
                  <c:v>4.2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Vue</c:v>
                </c:pt>
              </c:strCache>
            </c:strRef>
          </c:tx>
          <c:spPr>
            <a:solidFill>
              <a:srgbClr val="42B883"/>
            </a:solidFill>
            <a:ln w="38100" cap="flat">
              <a:solidFill>
                <a:srgbClr val="42B8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42B883"/>
              </a:solidFill>
              <a:ln w="19050" cap="flat">
                <a:solidFill>
                  <a:srgbClr val="42B8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0.2</c:v>
                </c:pt>
                <c:pt idx="1">
                  <c:v>0.6</c:v>
                </c:pt>
                <c:pt idx="2">
                  <c:v>1</c:v>
                </c:pt>
                <c:pt idx="3">
                  <c:v>1.3</c:v>
                </c:pt>
                <c:pt idx="4">
                  <c:v>1.6</c:v>
                </c:pt>
                <c:pt idx="5">
                  <c:v>1.8</c:v>
                </c:pt>
                <c:pt idx="6">
                  <c:v>1.9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ka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del sekci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rgbClr val="42B883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ahový slaj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Front-end frameworky · Webové technológie I. · 2026/2027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jpe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gif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vuejs.org/guide/" TargetMode="External"/><Relationship Id="rId2" Type="http://schemas.openxmlformats.org/officeDocument/2006/relationships/hyperlink" Target="https://vuejs.org/guide/extras/reactivity-in-depth" TargetMode="External"/><Relationship Id="rId3" Type="http://schemas.openxmlformats.org/officeDocument/2006/relationships/hyperlink" Target="https://vuejs.org/guide/extras/reactivity-in-depth#connection-to-signals" TargetMode="External"/><Relationship Id="rId4" Type="http://schemas.openxmlformats.org/officeDocument/2006/relationships/hyperlink" Target="https://react.dev" TargetMode="External"/><Relationship Id="rId5" Type="http://schemas.openxmlformats.org/officeDocument/2006/relationships/hyperlink" Target="https://angular.dev" TargetMode="External"/><Relationship Id="rId6" Type="http://schemas.openxmlformats.org/officeDocument/2006/relationships/hyperlink" Target="https://svelte.dev" TargetMode="External"/><Relationship Id="rId7" Type="http://schemas.openxmlformats.org/officeDocument/2006/relationships/hyperlink" Target="https://vite.dev" TargetMode="External"/><Relationship Id="rId8" Type="http://schemas.openxmlformats.org/officeDocument/2006/relationships/hyperlink" Target="https://developer.mozilla.org/docs/Web/API/Document_Object_Model" TargetMode="External"/><Relationship Id="rId9" Type="http://schemas.openxmlformats.org/officeDocument/2006/relationships/hyperlink" Target="https://github.com/tc39/proposal-signals" TargetMode="External"/><Relationship Id="rId10" Type="http://schemas.openxmlformats.org/officeDocument/2006/relationships/hyperlink" Target="https://npmtrends.com/@angular/core-vs-react-vs-svelte-vs-vue" TargetMode="External"/><Relationship Id="rId11" Type="http://schemas.openxmlformats.org/officeDocument/2006/relationships/hyperlink" Target="https://github.com/npm/registry/blob/main/docs/download-counts.md" TargetMode="External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Štítok"/>
          <p:cNvSpPr/>
          <p:nvPr/>
        </p:nvSpPr>
        <p:spPr>
          <a:xfrm>
            <a:off x="548640" y="9601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42B883"/>
          </a:solidFill>
          <a:ln/>
        </p:spPr>
      </p:sp>
      <p:sp>
        <p:nvSpPr>
          <p:cNvPr id="3" name="Štítok text"/>
          <p:cNvSpPr txBox="1"/>
          <p:nvPr/>
        </p:nvSpPr>
        <p:spPr>
          <a:xfrm>
            <a:off x="548640" y="9601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</a:rPr>
              <a:t>PREDNÁŠKA · VUE 3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417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Front-end frameworky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71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Webové technológie I. · ZS 2026</a:t>
            </a:r>
            <a:endParaRPr lang="en-US" sz="16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Ing. Jakub Matišák, PhD.</a:t>
            </a:r>
            <a:endParaRPr lang="en-US" sz="1600" dirty="0"/>
          </a:p>
        </p:txBody>
      </p:sp>
      <p:sp>
        <p:nvSpPr>
          <p:cNvPr id="6" name="Titulka kód pozadie"/>
          <p:cNvSpPr/>
          <p:nvPr/>
        </p:nvSpPr>
        <p:spPr>
          <a:xfrm>
            <a:off x="5623560" y="1325880"/>
            <a:ext cx="3063240" cy="2240280"/>
          </a:xfrm>
          <a:prstGeom prst="roundRect">
            <a:avLst>
              <a:gd name="adj" fmla="val 2449"/>
            </a:avLst>
          </a:prstGeom>
          <a:solidFill>
            <a:srgbClr val="1E293B"/>
          </a:solidFill>
          <a:ln/>
        </p:spPr>
      </p:sp>
      <p:sp>
        <p:nvSpPr>
          <p:cNvPr id="7" name="Titulka kód hlavička"/>
          <p:cNvSpPr/>
          <p:nvPr/>
        </p:nvSpPr>
        <p:spPr>
          <a:xfrm>
            <a:off x="5623560" y="1325880"/>
            <a:ext cx="306324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8" name="Titulka kód hlavička spoj"/>
          <p:cNvSpPr/>
          <p:nvPr/>
        </p:nvSpPr>
        <p:spPr>
          <a:xfrm>
            <a:off x="5623560" y="1563624"/>
            <a:ext cx="306324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itulka kód bodka 1"/>
          <p:cNvSpPr/>
          <p:nvPr/>
        </p:nvSpPr>
        <p:spPr>
          <a:xfrm>
            <a:off x="5733288" y="14081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Titulka kód bodka 2"/>
          <p:cNvSpPr/>
          <p:nvPr/>
        </p:nvSpPr>
        <p:spPr>
          <a:xfrm>
            <a:off x="5879592" y="14081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Titulka kód bodka 3"/>
          <p:cNvSpPr/>
          <p:nvPr/>
        </p:nvSpPr>
        <p:spPr>
          <a:xfrm>
            <a:off x="6025896" y="14081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itulka kód názov"/>
          <p:cNvSpPr txBox="1"/>
          <p:nvPr/>
        </p:nvSpPr>
        <p:spPr>
          <a:xfrm>
            <a:off x="6190488" y="132588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prednaska.js</a:t>
            </a:r>
            <a:endParaRPr lang="en-US" sz="900" dirty="0"/>
          </a:p>
        </p:txBody>
      </p:sp>
      <p:sp>
        <p:nvSpPr>
          <p:cNvPr id="13" name="Titulka kód"/>
          <p:cNvSpPr txBox="1"/>
          <p:nvPr/>
        </p:nvSpPr>
        <p:spPr>
          <a:xfrm>
            <a:off x="5623560" y="1581912"/>
            <a:ext cx="3063240" cy="198424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ref, watch }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'vue'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topic =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'reaktivita'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year =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(topic, learn)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Obsah</a:t>
            </a:r>
            <a:endParaRPr lang="en-US" sz="3000" dirty="0"/>
          </a:p>
        </p:txBody>
      </p:sp>
      <p:sp>
        <p:nvSpPr>
          <p:cNvPr id="3" name="Obsah 1 číslo"/>
          <p:cNvSpPr/>
          <p:nvPr/>
        </p:nvSpPr>
        <p:spPr>
          <a:xfrm>
            <a:off x="457200" y="1097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2B883"/>
          </a:solidFill>
          <a:ln/>
        </p:spPr>
      </p:sp>
      <p:sp>
        <p:nvSpPr>
          <p:cNvPr id="4" name="Obsah 1 číslo text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01</a:t>
            </a:r>
            <a:endParaRPr lang="en-US" sz="1500" dirty="0"/>
          </a:p>
        </p:txBody>
      </p:sp>
      <p:sp>
        <p:nvSpPr>
          <p:cNvPr id="5" name="Obsah 1"/>
          <p:cNvSpPr txBox="1"/>
          <p:nvPr/>
        </p:nvSpPr>
        <p:spPr>
          <a:xfrm>
            <a:off x="1051560" y="10789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Reaktivita a DOM</a:t>
            </a:r>
            <a:endParaRPr lang="en-US" sz="1600" dirty="0"/>
          </a:p>
        </p:txBody>
      </p:sp>
      <p:sp>
        <p:nvSpPr>
          <p:cNvPr id="6" name="Obsah 1 popis"/>
          <p:cNvSpPr txBox="1"/>
          <p:nvPr/>
        </p:nvSpPr>
        <p:spPr>
          <a:xfrm>
            <a:off x="1051560" y="13350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DOM · reaktivita · imperatívne vs. deklaratívne · Virtual DOM</a:t>
            </a:r>
            <a:endParaRPr lang="en-US" sz="1150" dirty="0"/>
          </a:p>
        </p:txBody>
      </p:sp>
      <p:sp>
        <p:nvSpPr>
          <p:cNvPr id="7" name="Obsah 2 číslo"/>
          <p:cNvSpPr/>
          <p:nvPr/>
        </p:nvSpPr>
        <p:spPr>
          <a:xfrm>
            <a:off x="457200" y="1783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2B883"/>
          </a:solidFill>
          <a:ln/>
        </p:spPr>
      </p:sp>
      <p:sp>
        <p:nvSpPr>
          <p:cNvPr id="8" name="Obsah 2 číslo text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02</a:t>
            </a:r>
            <a:endParaRPr lang="en-US" sz="1500" dirty="0"/>
          </a:p>
        </p:txBody>
      </p:sp>
      <p:sp>
        <p:nvSpPr>
          <p:cNvPr id="9" name="Obsah 2"/>
          <p:cNvSpPr txBox="1"/>
          <p:nvPr/>
        </p:nvSpPr>
        <p:spPr>
          <a:xfrm>
            <a:off x="1051560" y="17647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Frameworky dnes</a:t>
            </a:r>
            <a:endParaRPr lang="en-US" sz="1600" dirty="0"/>
          </a:p>
        </p:txBody>
      </p:sp>
      <p:sp>
        <p:nvSpPr>
          <p:cNvPr id="10" name="Obsah 2 popis"/>
          <p:cNvSpPr txBox="1"/>
          <p:nvPr/>
        </p:nvSpPr>
        <p:spPr>
          <a:xfrm>
            <a:off x="1051560" y="20208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porovnanie · popularita · krivka učenia · signály</a:t>
            </a:r>
            <a:endParaRPr lang="en-US" sz="1150" dirty="0"/>
          </a:p>
        </p:txBody>
      </p:sp>
      <p:sp>
        <p:nvSpPr>
          <p:cNvPr id="11" name="Obsah 3 číslo"/>
          <p:cNvSpPr/>
          <p:nvPr/>
        </p:nvSpPr>
        <p:spPr>
          <a:xfrm>
            <a:off x="457200" y="2468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2B883"/>
          </a:solidFill>
          <a:ln/>
        </p:spPr>
      </p:sp>
      <p:sp>
        <p:nvSpPr>
          <p:cNvPr id="12" name="Obsah 3 číslo text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03</a:t>
            </a:r>
            <a:endParaRPr lang="en-US" sz="1500" dirty="0"/>
          </a:p>
        </p:txBody>
      </p:sp>
      <p:sp>
        <p:nvSpPr>
          <p:cNvPr id="13" name="Obsah 3"/>
          <p:cNvSpPr txBox="1"/>
          <p:nvPr/>
        </p:nvSpPr>
        <p:spPr>
          <a:xfrm>
            <a:off x="1051560" y="24505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Vue</a:t>
            </a:r>
            <a:endParaRPr lang="en-US" sz="1600" dirty="0"/>
          </a:p>
        </p:txBody>
      </p:sp>
      <p:sp>
        <p:nvSpPr>
          <p:cNvPr id="14" name="Obsah 3 popis"/>
          <p:cNvSpPr txBox="1"/>
          <p:nvPr/>
        </p:nvSpPr>
        <p:spPr>
          <a:xfrm>
            <a:off x="1051560" y="27066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komponenty · Composition API · reaktivita · životný cyklus</a:t>
            </a:r>
            <a:endParaRPr lang="en-US" sz="1150" dirty="0"/>
          </a:p>
        </p:txBody>
      </p:sp>
      <p:sp>
        <p:nvSpPr>
          <p:cNvPr id="15" name="Obsah 4 číslo"/>
          <p:cNvSpPr/>
          <p:nvPr/>
        </p:nvSpPr>
        <p:spPr>
          <a:xfrm>
            <a:off x="457200" y="3154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2B883"/>
          </a:solidFill>
          <a:ln/>
        </p:spPr>
      </p:sp>
      <p:sp>
        <p:nvSpPr>
          <p:cNvPr id="16" name="Obsah 4 číslo text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04</a:t>
            </a:r>
            <a:endParaRPr lang="en-US" sz="1500" dirty="0"/>
          </a:p>
        </p:txBody>
      </p:sp>
      <p:sp>
        <p:nvSpPr>
          <p:cNvPr id="17" name="Obsah 4"/>
          <p:cNvSpPr txBox="1"/>
          <p:nvPr/>
        </p:nvSpPr>
        <p:spPr>
          <a:xfrm>
            <a:off x="1051560" y="31363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Ekosystém</a:t>
            </a:r>
            <a:endParaRPr lang="en-US" sz="1600" dirty="0"/>
          </a:p>
        </p:txBody>
      </p:sp>
      <p:sp>
        <p:nvSpPr>
          <p:cNvPr id="18" name="Obsah 4 popis"/>
          <p:cNvSpPr txBox="1"/>
          <p:nvPr/>
        </p:nvSpPr>
        <p:spPr>
          <a:xfrm>
            <a:off x="1051560" y="33924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knižnice · nástroje · meta-frameworky · TypeScript</a:t>
            </a:r>
            <a:endParaRPr lang="en-US" sz="1150" dirty="0"/>
          </a:p>
        </p:txBody>
      </p:sp>
      <p:sp>
        <p:nvSpPr>
          <p:cNvPr id="19" name="Obsah 5 číslo"/>
          <p:cNvSpPr/>
          <p:nvPr/>
        </p:nvSpPr>
        <p:spPr>
          <a:xfrm>
            <a:off x="45720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2B883"/>
          </a:solidFill>
          <a:ln/>
        </p:spPr>
      </p:sp>
      <p:sp>
        <p:nvSpPr>
          <p:cNvPr id="20" name="Obsah 5 číslo text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05</a:t>
            </a:r>
            <a:endParaRPr lang="en-US" sz="1500" dirty="0"/>
          </a:p>
        </p:txBody>
      </p:sp>
      <p:sp>
        <p:nvSpPr>
          <p:cNvPr id="21" name="Obsah 5"/>
          <p:cNvSpPr txBox="1"/>
          <p:nvPr/>
        </p:nvSpPr>
        <p:spPr>
          <a:xfrm>
            <a:off x="1051560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Prax</a:t>
            </a:r>
            <a:endParaRPr lang="en-US" sz="1600" dirty="0"/>
          </a:p>
        </p:txBody>
      </p:sp>
      <p:sp>
        <p:nvSpPr>
          <p:cNvPr id="22" name="Obsah 5 popis"/>
          <p:cNvSpPr txBox="1"/>
          <p:nvPr/>
        </p:nvSpPr>
        <p:spPr>
          <a:xfrm>
            <a:off x="1051560" y="407822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inštalácia · prvý projekt · ukážka Telefónny zoznam</a:t>
            </a:r>
            <a:endParaRPr lang="en-US" sz="1150" dirty="0"/>
          </a:p>
        </p:txBody>
      </p:sp>
      <p:pic>
        <p:nvPicPr>
          <p:cNvPr id="23" name="Meme" descr="C:\Users\matisak\AppData\Local\Temp\claude\C--Users-matisak-projekty-vue-prednaska\1d36b638-3e33-40b1-abc4-ada18f9170e7\scratchpad\gen\img\meme_b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188720"/>
            <a:ext cx="2788920" cy="1473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42B883"/>
                </a:solidFill>
              </a:rPr>
              <a:t>01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Reaktivita a DOM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DOM · reaktivita · imperatívne vs. deklaratívne · Virtual DOM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DOM – pripomenutie</a:t>
            </a:r>
            <a:endParaRPr lang="en-US" sz="3000" dirty="0"/>
          </a:p>
        </p:txBody>
      </p:sp>
      <p:pic>
        <p:nvPicPr>
          <p:cNvPr id="3" name="DOM strom" descr="C:\Users\matisak\AppData\Local\Temp\claude\C--Users-matisak-projekty-vue-prednaska\1d36b638-3e33-40b1-abc4-ada18f9170e7\scratchpad\gen\img\dom_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029200" cy="2752607"/>
          </a:xfrm>
          <a:prstGeom prst="rect">
            <a:avLst/>
          </a:prstGeom>
        </p:spPr>
      </p:pic>
      <p:sp>
        <p:nvSpPr>
          <p:cNvPr id="4" name="DOM karta"/>
          <p:cNvSpPr/>
          <p:nvPr/>
        </p:nvSpPr>
        <p:spPr>
          <a:xfrm>
            <a:off x="5760720" y="1097280"/>
            <a:ext cx="292608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DOM odrážky"/>
          <p:cNvSpPr txBox="1"/>
          <p:nvPr/>
        </p:nvSpPr>
        <p:spPr>
          <a:xfrm>
            <a:off x="5943600" y="128016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DOM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= stromová reprezentácia HTML stránky v prehliadači.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Každý element, atribút aj text je uzol (node).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JavaScript ho vie čítať aj meniť – napr. </a:t>
            </a:r>
            <a:pPr indent="0" marL="0">
              <a:buNone/>
            </a:pPr>
            <a:r>
              <a:rPr lang="en-US" sz="14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getElementById()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Čo je reaktivita?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Reaktivita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= keď sa zmení stav (dáta), používateľské rozhranie sa aktualizuje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automaticky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4" name="Analógia karta"/>
          <p:cNvSpPr/>
          <p:nvPr/>
        </p:nvSpPr>
        <p:spPr>
          <a:xfrm>
            <a:off x="457200" y="160020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Analógia kruh"/>
          <p:cNvSpPr/>
          <p:nvPr/>
        </p:nvSpPr>
        <p:spPr>
          <a:xfrm>
            <a:off x="621792" y="1719072"/>
            <a:ext cx="493776" cy="493776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6" name="Analógia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1842516"/>
            <a:ext cx="246888" cy="246888"/>
          </a:xfrm>
          <a:prstGeom prst="rect">
            <a:avLst/>
          </a:prstGeom>
        </p:spPr>
      </p:pic>
      <p:sp>
        <p:nvSpPr>
          <p:cNvPr id="7" name="Analógia text"/>
          <p:cNvSpPr txBox="1"/>
          <p:nvPr/>
        </p:nvSpPr>
        <p:spPr>
          <a:xfrm>
            <a:off x="1298448" y="167335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Analógia s Excelom: bunka </a:t>
            </a:r>
            <a:pPr indent="0" marL="0">
              <a:buNone/>
            </a:pPr>
            <a:r>
              <a:rPr lang="en-US" sz="14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 = A1 + B1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sa prepočíta sama, keď zmeníme A1. Bez reaktivity musíme DOM po každej zmene aktualizovať ručne.</a:t>
            </a:r>
            <a:endParaRPr lang="en-US" sz="1400" dirty="0"/>
          </a:p>
        </p:txBody>
      </p:sp>
      <p:sp>
        <p:nvSpPr>
          <p:cNvPr id="8" name="JS kód pozadie"/>
          <p:cNvSpPr/>
          <p:nvPr/>
        </p:nvSpPr>
        <p:spPr>
          <a:xfrm>
            <a:off x="457200" y="256032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/>
        </p:spPr>
      </p:sp>
      <p:sp>
        <p:nvSpPr>
          <p:cNvPr id="9" name="JS kód hlavička"/>
          <p:cNvSpPr/>
          <p:nvPr/>
        </p:nvSpPr>
        <p:spPr>
          <a:xfrm>
            <a:off x="457200" y="256032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0" name="JS kód hlavička spoj"/>
          <p:cNvSpPr/>
          <p:nvPr/>
        </p:nvSpPr>
        <p:spPr>
          <a:xfrm>
            <a:off x="457200" y="279806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JS kód bodka 1"/>
          <p:cNvSpPr/>
          <p:nvPr/>
        </p:nvSpPr>
        <p:spPr>
          <a:xfrm>
            <a:off x="566928" y="264261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JS kód bodka 2"/>
          <p:cNvSpPr/>
          <p:nvPr/>
        </p:nvSpPr>
        <p:spPr>
          <a:xfrm>
            <a:off x="713232" y="264261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JS kód bodka 3"/>
          <p:cNvSpPr/>
          <p:nvPr/>
        </p:nvSpPr>
        <p:spPr>
          <a:xfrm>
            <a:off x="859536" y="264261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JS kód názov"/>
          <p:cNvSpPr txBox="1"/>
          <p:nvPr/>
        </p:nvSpPr>
        <p:spPr>
          <a:xfrm>
            <a:off x="1024128" y="256032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obyčajný JavaScript</a:t>
            </a:r>
            <a:endParaRPr lang="en-US" sz="900" dirty="0"/>
          </a:p>
        </p:txBody>
      </p:sp>
      <p:sp>
        <p:nvSpPr>
          <p:cNvPr id="15" name="JS kód"/>
          <p:cNvSpPr txBox="1"/>
          <p:nvPr/>
        </p:nvSpPr>
        <p:spPr>
          <a:xfrm>
            <a:off x="457200" y="2816352"/>
            <a:ext cx="4023360" cy="148132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a *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– b sa neprepočíta</a:t>
            </a:r>
            <a:endParaRPr lang="en-US" sz="1300" dirty="0"/>
          </a:p>
        </p:txBody>
      </p:sp>
      <p:sp>
        <p:nvSpPr>
          <p:cNvPr id="16" name="Vue kód pozadie"/>
          <p:cNvSpPr/>
          <p:nvPr/>
        </p:nvSpPr>
        <p:spPr>
          <a:xfrm>
            <a:off x="4663440" y="2560320"/>
            <a:ext cx="4023360" cy="1737360"/>
          </a:xfrm>
          <a:prstGeom prst="roundRect">
            <a:avLst>
              <a:gd name="adj" fmla="val 3158"/>
            </a:avLst>
          </a:prstGeom>
          <a:solidFill>
            <a:srgbClr val="1E293B"/>
          </a:solidFill>
          <a:ln/>
        </p:spPr>
      </p:sp>
      <p:sp>
        <p:nvSpPr>
          <p:cNvPr id="17" name="Vue kód hlavička"/>
          <p:cNvSpPr/>
          <p:nvPr/>
        </p:nvSpPr>
        <p:spPr>
          <a:xfrm>
            <a:off x="4663440" y="256032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8" name="Vue kód hlavička spoj"/>
          <p:cNvSpPr/>
          <p:nvPr/>
        </p:nvSpPr>
        <p:spPr>
          <a:xfrm>
            <a:off x="4663440" y="279806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Vue kód bodka 1"/>
          <p:cNvSpPr/>
          <p:nvPr/>
        </p:nvSpPr>
        <p:spPr>
          <a:xfrm>
            <a:off x="4773168" y="264261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Vue kód bodka 2"/>
          <p:cNvSpPr/>
          <p:nvPr/>
        </p:nvSpPr>
        <p:spPr>
          <a:xfrm>
            <a:off x="4919472" y="264261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Vue kód bodka 3"/>
          <p:cNvSpPr/>
          <p:nvPr/>
        </p:nvSpPr>
        <p:spPr>
          <a:xfrm>
            <a:off x="5065776" y="264261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Vue kód názov"/>
          <p:cNvSpPr txBox="1"/>
          <p:nvPr/>
        </p:nvSpPr>
        <p:spPr>
          <a:xfrm>
            <a:off x="5230368" y="256032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– reaktívne</a:t>
            </a:r>
            <a:endParaRPr lang="en-US" sz="900" dirty="0"/>
          </a:p>
        </p:txBody>
      </p:sp>
      <p:sp>
        <p:nvSpPr>
          <p:cNvPr id="23" name="Vue kód"/>
          <p:cNvSpPr txBox="1"/>
          <p:nvPr/>
        </p:nvSpPr>
        <p:spPr>
          <a:xfrm>
            <a:off x="4663440" y="2816352"/>
            <a:ext cx="4023360" cy="148132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=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=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a.value *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a.value =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(b.value) </a:t>
            </a:r>
            <a:pPr indent="0" marL="0">
              <a:lnSpc>
                <a:spcPct val="100000"/>
              </a:lnSpc>
              <a:buNone/>
            </a:pPr>
            <a:r>
              <a:rPr lang="en-US" sz="13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Imperatívne vs. deklaratívne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AKO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to urobiť – imperatívne (JS)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ČO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sa má zobraziť – deklaratívne (Vue)</a:t>
            </a:r>
            <a:endParaRPr lang="en-US" sz="1400" dirty="0"/>
          </a:p>
        </p:txBody>
      </p:sp>
      <p:sp>
        <p:nvSpPr>
          <p:cNvPr id="5" name="Imperatívny kód pozadie"/>
          <p:cNvSpPr/>
          <p:nvPr/>
        </p:nvSpPr>
        <p:spPr>
          <a:xfrm>
            <a:off x="457200" y="1325880"/>
            <a:ext cx="4023360" cy="2788920"/>
          </a:xfrm>
          <a:prstGeom prst="roundRect">
            <a:avLst>
              <a:gd name="adj" fmla="val 1967"/>
            </a:avLst>
          </a:prstGeom>
          <a:solidFill>
            <a:srgbClr val="1E293B"/>
          </a:solidFill>
          <a:ln/>
        </p:spPr>
      </p:sp>
      <p:sp>
        <p:nvSpPr>
          <p:cNvPr id="6" name="Imperatívny kód hlavička"/>
          <p:cNvSpPr/>
          <p:nvPr/>
        </p:nvSpPr>
        <p:spPr>
          <a:xfrm>
            <a:off x="457200" y="132588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7" name="Imperatívny kód hlavička spoj"/>
          <p:cNvSpPr/>
          <p:nvPr/>
        </p:nvSpPr>
        <p:spPr>
          <a:xfrm>
            <a:off x="457200" y="156362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Imperatívny kód bodka 1"/>
          <p:cNvSpPr/>
          <p:nvPr/>
        </p:nvSpPr>
        <p:spPr>
          <a:xfrm>
            <a:off x="566928" y="14081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Imperatívny kód bodka 2"/>
          <p:cNvSpPr/>
          <p:nvPr/>
        </p:nvSpPr>
        <p:spPr>
          <a:xfrm>
            <a:off x="713232" y="14081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Imperatívny kód bodka 3"/>
          <p:cNvSpPr/>
          <p:nvPr/>
        </p:nvSpPr>
        <p:spPr>
          <a:xfrm>
            <a:off x="859536" y="14081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Imperatívny kód názov"/>
          <p:cNvSpPr txBox="1"/>
          <p:nvPr/>
        </p:nvSpPr>
        <p:spPr>
          <a:xfrm>
            <a:off x="1024128" y="13258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900" dirty="0"/>
          </a:p>
        </p:txBody>
      </p:sp>
      <p:sp>
        <p:nvSpPr>
          <p:cNvPr id="12" name="Imperatívny kód"/>
          <p:cNvSpPr txBox="1"/>
          <p:nvPr/>
        </p:nvSpPr>
        <p:spPr>
          <a:xfrm>
            <a:off x="457200" y="1581912"/>
            <a:ext cx="4023360" cy="253288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"counter"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"increment()"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count++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el = document.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getElementById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'counter'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el.textContent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`Counter: ${count}`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3" name="Deklaratívny kód pozadie"/>
          <p:cNvSpPr/>
          <p:nvPr/>
        </p:nvSpPr>
        <p:spPr>
          <a:xfrm>
            <a:off x="4663440" y="1325880"/>
            <a:ext cx="4023360" cy="2788920"/>
          </a:xfrm>
          <a:prstGeom prst="roundRect">
            <a:avLst>
              <a:gd name="adj" fmla="val 1967"/>
            </a:avLst>
          </a:prstGeom>
          <a:solidFill>
            <a:srgbClr val="1E293B"/>
          </a:solidFill>
          <a:ln/>
        </p:spPr>
      </p:sp>
      <p:sp>
        <p:nvSpPr>
          <p:cNvPr id="14" name="Deklaratívny kód hlavička"/>
          <p:cNvSpPr/>
          <p:nvPr/>
        </p:nvSpPr>
        <p:spPr>
          <a:xfrm>
            <a:off x="4663440" y="132588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5" name="Deklaratívny kód hlavička spoj"/>
          <p:cNvSpPr/>
          <p:nvPr/>
        </p:nvSpPr>
        <p:spPr>
          <a:xfrm>
            <a:off x="4663440" y="156362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Deklaratívny kód bodka 1"/>
          <p:cNvSpPr/>
          <p:nvPr/>
        </p:nvSpPr>
        <p:spPr>
          <a:xfrm>
            <a:off x="4773168" y="14081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Deklaratívny kód bodka 2"/>
          <p:cNvSpPr/>
          <p:nvPr/>
        </p:nvSpPr>
        <p:spPr>
          <a:xfrm>
            <a:off x="4919472" y="14081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Deklaratívny kód bodka 3"/>
          <p:cNvSpPr/>
          <p:nvPr/>
        </p:nvSpPr>
        <p:spPr>
          <a:xfrm>
            <a:off x="5065776" y="14081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Deklaratívny kód názov"/>
          <p:cNvSpPr txBox="1"/>
          <p:nvPr/>
        </p:nvSpPr>
        <p:spPr>
          <a:xfrm>
            <a:off x="5230368" y="13258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Counter.vue</a:t>
            </a:r>
            <a:endParaRPr lang="en-US" sz="900" dirty="0"/>
          </a:p>
        </p:txBody>
      </p:sp>
      <p:sp>
        <p:nvSpPr>
          <p:cNvPr id="20" name="Deklaratívny kód"/>
          <p:cNvSpPr txBox="1"/>
          <p:nvPr/>
        </p:nvSpPr>
        <p:spPr>
          <a:xfrm>
            <a:off x="4663440" y="1581912"/>
            <a:ext cx="4023360" cy="253288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ref }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'vue'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count.value++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"increment"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21" name="Pointa karta"/>
          <p:cNvSpPr/>
          <p:nvPr/>
        </p:nvSpPr>
        <p:spPr>
          <a:xfrm>
            <a:off x="457200" y="4224528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6F6EF"/>
          </a:solidFill>
          <a:ln/>
        </p:spPr>
      </p:sp>
      <p:sp>
        <p:nvSpPr>
          <p:cNvPr id="22" name="Pointa kruh"/>
          <p:cNvSpPr/>
          <p:nvPr/>
        </p:nvSpPr>
        <p:spPr>
          <a:xfrm>
            <a:off x="566928" y="4270248"/>
            <a:ext cx="365760" cy="365760"/>
          </a:xfrm>
          <a:prstGeom prst="ellipse">
            <a:avLst/>
          </a:prstGeom>
          <a:solidFill>
            <a:srgbClr val="42B883"/>
          </a:solidFill>
          <a:ln/>
        </p:spPr>
      </p:sp>
      <p:pic>
        <p:nvPicPr>
          <p:cNvPr id="23" name="Pointa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61688"/>
            <a:ext cx="182880" cy="182880"/>
          </a:xfrm>
          <a:prstGeom prst="rect">
            <a:avLst/>
          </a:prstGeom>
        </p:spPr>
      </p:pic>
      <p:sp>
        <p:nvSpPr>
          <p:cNvPr id="24" name="Pointa text"/>
          <p:cNvSpPr txBox="1"/>
          <p:nvPr/>
        </p:nvSpPr>
        <p:spPr>
          <a:xfrm>
            <a:off x="1051560" y="422452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Deklaratívne opíšeme výsledok podľa stavu – o aktualizáciu DOM sa postará framework.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Virtual DOM</a:t>
            </a:r>
            <a:endParaRPr lang="en-US" sz="3000" dirty="0"/>
          </a:p>
        </p:txBody>
      </p:sp>
      <p:sp>
        <p:nvSpPr>
          <p:cNvPr id="3" name="VDOM odrážky"/>
          <p:cNvSpPr txBox="1"/>
          <p:nvPr/>
        </p:nvSpPr>
        <p:spPr>
          <a:xfrm>
            <a:off x="457200" y="1051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Virtual DOM (VDOM)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odľahčená reprezentácia UI v pamäti – obyčajné JS objekty (vnodes).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Najprv vzniká VDOM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až podľa neho sa upraví skutočný DOM – nie naopak.</a:t>
            </a:r>
            <a:endParaRPr lang="en-US" sz="1500" dirty="0"/>
          </a:p>
        </p:txBody>
      </p:sp>
      <p:sp>
        <p:nvSpPr>
          <p:cNvPr id="4" name="Citát karta"/>
          <p:cNvSpPr/>
          <p:nvPr/>
        </p:nvSpPr>
        <p:spPr>
          <a:xfrm>
            <a:off x="457200" y="2377440"/>
            <a:ext cx="48463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Citát"/>
          <p:cNvSpPr txBox="1"/>
          <p:nvPr/>
        </p:nvSpPr>
        <p:spPr>
          <a:xfrm>
            <a:off x="640080" y="245059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“The virtual DOM (VDOM) is a programming concept where an ideal, or “virtual”, representation of a UI is kept in memory and synced with the “real” DOM.”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— staršia dokumentácia Reactu (reactjs.org)</a:t>
            </a:r>
            <a:endParaRPr lang="en-US" sz="1200" dirty="0"/>
          </a:p>
        </p:txBody>
      </p:sp>
      <p:sp>
        <p:nvSpPr>
          <p:cNvPr id="6" name="Vnode kód pozadie"/>
          <p:cNvSpPr/>
          <p:nvPr/>
        </p:nvSpPr>
        <p:spPr>
          <a:xfrm>
            <a:off x="5532120" y="1051560"/>
            <a:ext cx="3154680" cy="233172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/>
        </p:spPr>
      </p:sp>
      <p:sp>
        <p:nvSpPr>
          <p:cNvPr id="7" name="Vnode kód hlavička"/>
          <p:cNvSpPr/>
          <p:nvPr/>
        </p:nvSpPr>
        <p:spPr>
          <a:xfrm>
            <a:off x="5532120" y="1051560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8" name="Vnode kód hlavička spoj"/>
          <p:cNvSpPr/>
          <p:nvPr/>
        </p:nvSpPr>
        <p:spPr>
          <a:xfrm>
            <a:off x="5532120" y="1289304"/>
            <a:ext cx="315468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Vnode kód bodka 1"/>
          <p:cNvSpPr/>
          <p:nvPr/>
        </p:nvSpPr>
        <p:spPr>
          <a:xfrm>
            <a:off x="5641848" y="11338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Vnode kód bodka 2"/>
          <p:cNvSpPr/>
          <p:nvPr/>
        </p:nvSpPr>
        <p:spPr>
          <a:xfrm>
            <a:off x="5788152" y="11338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Vnode kód bodka 3"/>
          <p:cNvSpPr/>
          <p:nvPr/>
        </p:nvSpPr>
        <p:spPr>
          <a:xfrm>
            <a:off x="5934456" y="11338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Vnode kód názov"/>
          <p:cNvSpPr txBox="1"/>
          <p:nvPr/>
        </p:nvSpPr>
        <p:spPr>
          <a:xfrm>
            <a:off x="6099048" y="105156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vnode</a:t>
            </a:r>
            <a:endParaRPr lang="en-US" sz="900" dirty="0"/>
          </a:p>
        </p:txBody>
      </p:sp>
      <p:sp>
        <p:nvSpPr>
          <p:cNvPr id="13" name="Vnode kód"/>
          <p:cNvSpPr txBox="1"/>
          <p:nvPr/>
        </p:nvSpPr>
        <p:spPr>
          <a:xfrm>
            <a:off x="5532120" y="1307592"/>
            <a:ext cx="3154680" cy="207568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vnode = obyčajný JS objekt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'div'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props: { id: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'counter'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'Counter: 0'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Krok 1"/>
          <p:cNvSpPr/>
          <p:nvPr/>
        </p:nvSpPr>
        <p:spPr>
          <a:xfrm>
            <a:off x="457200" y="365760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35495E"/>
          </a:solidFill>
          <a:ln/>
        </p:spPr>
      </p:sp>
      <p:sp>
        <p:nvSpPr>
          <p:cNvPr id="15" name="Krok 1 text"/>
          <p:cNvSpPr txBox="1"/>
          <p:nvPr/>
        </p:nvSpPr>
        <p:spPr>
          <a:xfrm>
            <a:off x="457200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B883"/>
                </a:solidFill>
              </a:rPr>
              <a:t>1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Zmena stavu</a:t>
            </a:r>
            <a:endParaRPr lang="en-US" sz="1200" dirty="0"/>
          </a:p>
        </p:txBody>
      </p:sp>
      <p:sp>
        <p:nvSpPr>
          <p:cNvPr id="16" name="Šípka 1"/>
          <p:cNvSpPr txBox="1"/>
          <p:nvPr/>
        </p:nvSpPr>
        <p:spPr>
          <a:xfrm>
            <a:off x="2240280" y="3657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Krok 2"/>
          <p:cNvSpPr/>
          <p:nvPr/>
        </p:nvSpPr>
        <p:spPr>
          <a:xfrm>
            <a:off x="2606040" y="365760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35495E"/>
          </a:solidFill>
          <a:ln/>
        </p:spPr>
      </p:sp>
      <p:sp>
        <p:nvSpPr>
          <p:cNvPr id="18" name="Krok 2 text"/>
          <p:cNvSpPr txBox="1"/>
          <p:nvPr/>
        </p:nvSpPr>
        <p:spPr>
          <a:xfrm>
            <a:off x="2606040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B883"/>
                </a:solidFill>
              </a:rPr>
              <a:t>2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Nový VDOM</a:t>
            </a:r>
            <a:endParaRPr lang="en-US" sz="1200" dirty="0"/>
          </a:p>
        </p:txBody>
      </p:sp>
      <p:sp>
        <p:nvSpPr>
          <p:cNvPr id="19" name="Šípka 2"/>
          <p:cNvSpPr txBox="1"/>
          <p:nvPr/>
        </p:nvSpPr>
        <p:spPr>
          <a:xfrm>
            <a:off x="4389120" y="3657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Krok 3"/>
          <p:cNvSpPr/>
          <p:nvPr/>
        </p:nvSpPr>
        <p:spPr>
          <a:xfrm>
            <a:off x="4754880" y="365760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35495E"/>
          </a:solidFill>
          <a:ln/>
        </p:spPr>
      </p:sp>
      <p:sp>
        <p:nvSpPr>
          <p:cNvPr id="21" name="Krok 3 text"/>
          <p:cNvSpPr txBox="1"/>
          <p:nvPr/>
        </p:nvSpPr>
        <p:spPr>
          <a:xfrm>
            <a:off x="4754880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2B883"/>
                </a:solidFill>
              </a:rPr>
              <a:t>3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Diff – porovnanie</a:t>
            </a:r>
            <a:endParaRPr lang="en-US" sz="1200" dirty="0"/>
          </a:p>
        </p:txBody>
      </p:sp>
      <p:sp>
        <p:nvSpPr>
          <p:cNvPr id="22" name="Šípka 3"/>
          <p:cNvSpPr txBox="1"/>
          <p:nvPr/>
        </p:nvSpPr>
        <p:spPr>
          <a:xfrm>
            <a:off x="6537960" y="3657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Krok 4"/>
          <p:cNvSpPr/>
          <p:nvPr/>
        </p:nvSpPr>
        <p:spPr>
          <a:xfrm>
            <a:off x="6903720" y="365760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42B883"/>
          </a:solidFill>
          <a:ln/>
        </p:spPr>
      </p:sp>
      <p:sp>
        <p:nvSpPr>
          <p:cNvPr id="24" name="Krok 4 text"/>
          <p:cNvSpPr txBox="1"/>
          <p:nvPr/>
        </p:nvSpPr>
        <p:spPr>
          <a:xfrm>
            <a:off x="6903720" y="3657600"/>
            <a:ext cx="1783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 </a:t>
            </a:r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Patch – zápis do DOM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Virtual DOM vs. Browser DOM</a:t>
            </a:r>
            <a:endParaRPr lang="en-US" sz="3000" dirty="0"/>
          </a:p>
        </p:txBody>
      </p:sp>
      <p:pic>
        <p:nvPicPr>
          <p:cNvPr id="3" name="VDOM diagram" descr="C:\Users\matisak\AppData\Local\Temp\claude\C--Users-matisak-projekty-vue-prednaska\1d36b638-3e33-40b1-abc4-ada18f9170e7\scratchpad\gen\img\vd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257800" cy="3518647"/>
          </a:xfrm>
          <a:prstGeom prst="rect">
            <a:avLst/>
          </a:prstGeom>
        </p:spPr>
      </p:pic>
      <p:sp>
        <p:nvSpPr>
          <p:cNvPr id="4" name="Bod 1"/>
          <p:cNvSpPr/>
          <p:nvPr/>
        </p:nvSpPr>
        <p:spPr>
          <a:xfrm>
            <a:off x="6035040" y="1325880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5" name="Bod 1 číslo"/>
          <p:cNvSpPr txBox="1"/>
          <p:nvPr/>
        </p:nvSpPr>
        <p:spPr>
          <a:xfrm>
            <a:off x="603504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Bod 1 text"/>
          <p:cNvSpPr txBox="1"/>
          <p:nvPr/>
        </p:nvSpPr>
        <p:spPr>
          <a:xfrm>
            <a:off x="6583680" y="12893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Zmena stavu – vo VDOM sa zmenia uzly (červené).</a:t>
            </a:r>
            <a:endParaRPr lang="en-US" sz="1400" dirty="0"/>
          </a:p>
        </p:txBody>
      </p:sp>
      <p:sp>
        <p:nvSpPr>
          <p:cNvPr id="7" name="Bod 2"/>
          <p:cNvSpPr/>
          <p:nvPr/>
        </p:nvSpPr>
        <p:spPr>
          <a:xfrm>
            <a:off x="6035040" y="2331720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8" name="Bod 2 číslo"/>
          <p:cNvSpPr txBox="1"/>
          <p:nvPr/>
        </p:nvSpPr>
        <p:spPr>
          <a:xfrm>
            <a:off x="60350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Bod 2 text"/>
          <p:cNvSpPr txBox="1"/>
          <p:nvPr/>
        </p:nvSpPr>
        <p:spPr>
          <a:xfrm>
            <a:off x="6583680" y="229514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 porovná nový a starý VDOM.</a:t>
            </a:r>
            <a:endParaRPr lang="en-US" sz="1400" dirty="0"/>
          </a:p>
        </p:txBody>
      </p:sp>
      <p:sp>
        <p:nvSpPr>
          <p:cNvPr id="10" name="Bod 3"/>
          <p:cNvSpPr/>
          <p:nvPr/>
        </p:nvSpPr>
        <p:spPr>
          <a:xfrm>
            <a:off x="6035040" y="3337560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11" name="Bod 3 číslo"/>
          <p:cNvSpPr txBox="1"/>
          <p:nvPr/>
        </p:nvSpPr>
        <p:spPr>
          <a:xfrm>
            <a:off x="60350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Bod 3 text"/>
          <p:cNvSpPr txBox="1"/>
          <p:nvPr/>
        </p:nvSpPr>
        <p:spPr>
          <a:xfrm>
            <a:off x="6583680" y="330098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 Browser DOM sa zapíšu len zmenené uzly.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Prečo Virtual DOM?</a:t>
            </a:r>
            <a:endParaRPr lang="en-US" sz="3000" dirty="0"/>
          </a:p>
        </p:txBody>
      </p:sp>
      <p:sp>
        <p:nvSpPr>
          <p:cNvPr id="3" name="Mýtus karta"/>
          <p:cNvSpPr/>
          <p:nvPr/>
        </p:nvSpPr>
        <p:spPr>
          <a:xfrm>
            <a:off x="457200" y="1024128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DE8EC"/>
          </a:solidFill>
          <a:ln/>
        </p:spPr>
      </p:sp>
      <p:sp>
        <p:nvSpPr>
          <p:cNvPr id="4" name="Mýtus"/>
          <p:cNvSpPr txBox="1"/>
          <p:nvPr/>
        </p:nvSpPr>
        <p:spPr>
          <a:xfrm>
            <a:off x="640080" y="102412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</a:rPr>
              <a:t>MÝTUS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„DOM je pomalý.“</a:t>
            </a:r>
            <a:endParaRPr lang="en-US" sz="1100" dirty="0"/>
          </a:p>
        </p:txBody>
      </p:sp>
      <p:sp>
        <p:nvSpPr>
          <p:cNvPr id="5" name="Realita karta"/>
          <p:cNvSpPr/>
          <p:nvPr/>
        </p:nvSpPr>
        <p:spPr>
          <a:xfrm>
            <a:off x="3383280" y="1024128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E6F6EF"/>
          </a:solidFill>
          <a:ln/>
        </p:spPr>
      </p:sp>
      <p:sp>
        <p:nvSpPr>
          <p:cNvPr id="6" name="Realita"/>
          <p:cNvSpPr txBox="1"/>
          <p:nvPr/>
        </p:nvSpPr>
        <p:spPr>
          <a:xfrm>
            <a:off x="3566160" y="102412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55"/>
                </a:solidFill>
              </a:rPr>
              <a:t>REALITA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Zmena uzla je rýchla. Drahé je prepočítanie layoutu a prekreslenie (reflow/repaint) – najmä veľa zmien za sebou.</a:t>
            </a:r>
            <a:endParaRPr lang="en-US" sz="1100" dirty="0"/>
          </a:p>
        </p:txBody>
      </p:sp>
      <p:sp>
        <p:nvSpPr>
          <p:cNvPr id="7" name="Dôvod 1 kruh"/>
          <p:cNvSpPr/>
          <p:nvPr/>
        </p:nvSpPr>
        <p:spPr>
          <a:xfrm>
            <a:off x="457200" y="2395728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pic>
        <p:nvPicPr>
          <p:cNvPr id="8" name="Dôvod 1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2500884"/>
            <a:ext cx="210312" cy="210312"/>
          </a:xfrm>
          <a:prstGeom prst="rect">
            <a:avLst/>
          </a:prstGeom>
        </p:spPr>
      </p:pic>
      <p:sp>
        <p:nvSpPr>
          <p:cNvPr id="9" name="Dôvod 1 text"/>
          <p:cNvSpPr txBox="1"/>
          <p:nvPr/>
        </p:nvSpPr>
        <p:spPr>
          <a:xfrm>
            <a:off x="1051560" y="2340864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Deklaratívny kód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framework zmeny dávkuje a do DOM zapíše len minimum.</a:t>
            </a:r>
            <a:endParaRPr lang="en-US" sz="1400" dirty="0"/>
          </a:p>
        </p:txBody>
      </p:sp>
      <p:sp>
        <p:nvSpPr>
          <p:cNvPr id="10" name="Dôvod 2 kruh"/>
          <p:cNvSpPr/>
          <p:nvPr/>
        </p:nvSpPr>
        <p:spPr>
          <a:xfrm>
            <a:off x="457200" y="3108960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pic>
        <p:nvPicPr>
          <p:cNvPr id="11" name="Dôvod 2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3214116"/>
            <a:ext cx="210312" cy="210312"/>
          </a:xfrm>
          <a:prstGeom prst="rect">
            <a:avLst/>
          </a:prstGeom>
        </p:spPr>
      </p:pic>
      <p:sp>
        <p:nvSpPr>
          <p:cNvPr id="12" name="Dôvod 2 text"/>
          <p:cNvSpPr txBox="1"/>
          <p:nvPr/>
        </p:nvSpPr>
        <p:spPr>
          <a:xfrm>
            <a:off x="1051560" y="3054096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Netreba ručne synchronizovať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stav a DOM – menej chýb.</a:t>
            </a:r>
            <a:endParaRPr lang="en-US" sz="1400" dirty="0"/>
          </a:p>
        </p:txBody>
      </p:sp>
      <p:sp>
        <p:nvSpPr>
          <p:cNvPr id="13" name="Dôvod 3 kruh"/>
          <p:cNvSpPr/>
          <p:nvPr/>
        </p:nvSpPr>
        <p:spPr>
          <a:xfrm>
            <a:off x="457200" y="3822192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Dôvod 3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3927348"/>
            <a:ext cx="210312" cy="210312"/>
          </a:xfrm>
          <a:prstGeom prst="rect">
            <a:avLst/>
          </a:prstGeom>
        </p:spPr>
      </p:pic>
      <p:sp>
        <p:nvSpPr>
          <p:cNvPr id="15" name="Dôvod 3 text"/>
          <p:cNvSpPr txBox="1"/>
          <p:nvPr/>
        </p:nvSpPr>
        <p:spPr>
          <a:xfrm>
            <a:off x="1051560" y="3767328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VDOM nie je zadarmo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diff stojí čas aj pamäť. Preto vznikajú prístupy bez VDOM: kompilátor (Svelte), signály (Solid, Angular), Vue Vapor.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42B883"/>
                </a:solidFill>
              </a:rPr>
              <a:t>02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Frameworky dnes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porovnanie · popularita · krivka učenia · signály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Najpoužívanejšie frameworky</a:t>
            </a:r>
            <a:endParaRPr lang="en-US" sz="3000" dirty="0"/>
          </a:p>
        </p:txBody>
      </p:sp>
      <p:pic>
        <p:nvPicPr>
          <p:cNvPr id="3" name="Logá frameworkov" descr="C:\Users\matisak\AppData\Local\Temp\claude\C--Users-matisak-projekty-vue-prednaska\1d36b638-3e33-40b1-abc4-ada18f9170e7\scratchpad\gen\img\lo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43000"/>
            <a:ext cx="6400800" cy="2167128"/>
          </a:xfrm>
          <a:prstGeom prst="rect">
            <a:avLst/>
          </a:prstGeom>
        </p:spPr>
      </p:pic>
      <p:sp>
        <p:nvSpPr>
          <p:cNvPr id="4" name="Frameworky zoznam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Angular · React · Vue – a ďalšie: Svelte, Solid, Preact, Qwik…</a:t>
            </a:r>
            <a:endParaRPr lang="en-US" sz="1800" dirty="0"/>
          </a:p>
        </p:txBody>
      </p:sp>
      <p:sp>
        <p:nvSpPr>
          <p:cNvPr id="5" name="Poznámka React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* React je formálne knižnica – rieši len UI vrstvu, router či správu stavu si dopĺňame.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Porovnanie</a:t>
            </a:r>
            <a:endParaRPr lang="en-US" sz="3000" dirty="0"/>
          </a:p>
        </p:txBody>
      </p:sp>
      <p:graphicFrame>
        <p:nvGraphicFramePr>
          <p:cNvPr id="13" name="Porovnanie tabuľk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737360"/>
                <a:gridCol w="1737360"/>
                <a:gridCol w="173736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3002F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Angular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9ECA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React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2B883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Vue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3E00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Svelte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Rok vydania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2016 (AngularJS 2010, koniec 2021)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2013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2014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2016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Verzia (10/2026)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19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3.5 (3.6 RC)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Za tým stojí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Google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Meta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Evan You + komunita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Rich Harris + komunita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Jazyk / šablóny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TypeScript, HTML šablóny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JSX (JS/TS)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SFC – HTML šablóny, JS/TS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.svelte súbory, JS/TS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Krivka učenia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Strmá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Stredná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Mierna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Mierna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Vykresľovanie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Incremental DOM + Signals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Virtual DOM + React Compiler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Virtual DOM + kompilátor (Vapor bez VDOM)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Kompilátor, bez VDOM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Pozitíva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Kompletné riešenie pre veľké aplikácie (DI, router, formuláre)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Najväčší ekosystém, React Native, trh práce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Dokumentácia, jednoduchá syntax, rýchly štart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Málo kódu, výkon, malé bundly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Negatíva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Veľa konceptov naraz (DI, RxJS)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Veľa rozhodnutí na vývojárovi (router, stav…)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Menší trh práce ako React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Menšia komunita a ekosystém</a:t>
                      </a:r>
                      <a:endParaRPr lang="en-US" sz="1050" dirty="0"/>
                    </a:p>
                  </a:txBody>
                  <a:tcPr marL="63500" marR="635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NPM trendy</a:t>
            </a:r>
            <a:endParaRPr lang="en-US" sz="3000" dirty="0"/>
          </a:p>
        </p:txBody>
      </p:sp>
      <p:graphicFrame>
        <p:nvGraphicFramePr>
          <p:cNvPr id="3" name="NPM graf" descr=""/>
          <p:cNvGraphicFramePr/>
          <p:nvPr/>
        </p:nvGraphicFramePr>
        <p:xfrm>
          <a:off x="365760" y="960120"/>
          <a:ext cx="6126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Štatistiky nadpis"/>
          <p:cNvSpPr txBox="1"/>
          <p:nvPr/>
        </p:nvSpPr>
        <p:spPr>
          <a:xfrm>
            <a:off x="6720840" y="1005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Sept. 2026 · priemer za týždeň</a:t>
            </a:r>
            <a:endParaRPr lang="en-US" sz="1100" dirty="0"/>
          </a:p>
        </p:txBody>
      </p:sp>
      <p:sp>
        <p:nvSpPr>
          <p:cNvPr id="5" name="Štatistika React"/>
          <p:cNvSpPr txBox="1"/>
          <p:nvPr/>
        </p:nvSpPr>
        <p:spPr>
          <a:xfrm>
            <a:off x="6720840" y="132588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9ECA"/>
                </a:solidFill>
              </a:rPr>
              <a:t>197 M</a:t>
            </a:r>
            <a:endParaRPr lang="en-US" sz="2600" dirty="0"/>
          </a:p>
        </p:txBody>
      </p:sp>
      <p:sp>
        <p:nvSpPr>
          <p:cNvPr id="6" name="Štatistika React popis"/>
          <p:cNvSpPr txBox="1"/>
          <p:nvPr/>
        </p:nvSpPr>
        <p:spPr>
          <a:xfrm>
            <a:off x="6720840" y="17190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React</a:t>
            </a:r>
            <a:endParaRPr lang="en-US" sz="1100" dirty="0"/>
          </a:p>
        </p:txBody>
      </p:sp>
      <p:sp>
        <p:nvSpPr>
          <p:cNvPr id="7" name="Štatistika Vue"/>
          <p:cNvSpPr txBox="1"/>
          <p:nvPr/>
        </p:nvSpPr>
        <p:spPr>
          <a:xfrm>
            <a:off x="6720840" y="20574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7A55"/>
                </a:solidFill>
              </a:rPr>
              <a:t>17,8 M</a:t>
            </a:r>
            <a:endParaRPr lang="en-US" sz="2600" dirty="0"/>
          </a:p>
        </p:txBody>
      </p:sp>
      <p:sp>
        <p:nvSpPr>
          <p:cNvPr id="8" name="Štatistika Vue popis"/>
          <p:cNvSpPr txBox="1"/>
          <p:nvPr/>
        </p:nvSpPr>
        <p:spPr>
          <a:xfrm>
            <a:off x="6720840" y="245059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Vue</a:t>
            </a:r>
            <a:endParaRPr lang="en-US" sz="1100" dirty="0"/>
          </a:p>
        </p:txBody>
      </p:sp>
      <p:sp>
        <p:nvSpPr>
          <p:cNvPr id="9" name="Štatistika Angular"/>
          <p:cNvSpPr txBox="1"/>
          <p:nvPr/>
        </p:nvSpPr>
        <p:spPr>
          <a:xfrm>
            <a:off x="6720840" y="27889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3002F"/>
                </a:solidFill>
              </a:rPr>
              <a:t>6,8 M</a:t>
            </a:r>
            <a:endParaRPr lang="en-US" sz="2600" dirty="0"/>
          </a:p>
        </p:txBody>
      </p:sp>
      <p:sp>
        <p:nvSpPr>
          <p:cNvPr id="10" name="Štatistika Angular popis"/>
          <p:cNvSpPr txBox="1"/>
          <p:nvPr/>
        </p:nvSpPr>
        <p:spPr>
          <a:xfrm>
            <a:off x="6720840" y="31821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Angular</a:t>
            </a:r>
            <a:endParaRPr lang="en-US" sz="1100" dirty="0"/>
          </a:p>
        </p:txBody>
      </p:sp>
      <p:sp>
        <p:nvSpPr>
          <p:cNvPr id="11" name="Štatistika Svelte"/>
          <p:cNvSpPr txBox="1"/>
          <p:nvPr/>
        </p:nvSpPr>
        <p:spPr>
          <a:xfrm>
            <a:off x="6720840" y="3520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</a:rPr>
              <a:t>6,5 M</a:t>
            </a:r>
            <a:endParaRPr lang="en-US" sz="2600" dirty="0"/>
          </a:p>
        </p:txBody>
      </p:sp>
      <p:sp>
        <p:nvSpPr>
          <p:cNvPr id="12" name="Štatistika Svelte popis"/>
          <p:cNvSpPr txBox="1"/>
          <p:nvPr/>
        </p:nvSpPr>
        <p:spPr>
          <a:xfrm>
            <a:off x="6720840" y="391363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Svelte</a:t>
            </a:r>
            <a:endParaRPr lang="en-US" sz="1100" dirty="0"/>
          </a:p>
        </p:txBody>
      </p:sp>
      <p:sp>
        <p:nvSpPr>
          <p:cNvPr id="13" name="Graf popis"/>
          <p:cNvSpPr txBox="1"/>
          <p:nvPr/>
        </p:nvSpPr>
        <p:spPr>
          <a:xfrm>
            <a:off x="457200" y="42793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Priemerné týždenné stiahnutia z npm (api.npmjs.org), 01/2016 – 09/2026. Stiahnutia ≠ používatelia: rátajú sa aj CI buildy, boti a automaticky generované projekty (odtiaľ prudký nárast v roku 2026). Špičky Vue a Svelte koncom roka 2022 sú anomálie v dátach.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Krivka učenia</a:t>
            </a:r>
            <a:endParaRPr lang="en-US" sz="3000" dirty="0"/>
          </a:p>
        </p:txBody>
      </p:sp>
      <p:sp>
        <p:nvSpPr>
          <p:cNvPr id="3" name="Angular názov"/>
          <p:cNvSpPr txBox="1"/>
          <p:nvPr/>
        </p:nvSpPr>
        <p:spPr>
          <a:xfrm>
            <a:off x="384048" y="12893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3002F"/>
                </a:solidFill>
              </a:rPr>
              <a:t>Angular</a:t>
            </a:r>
            <a:endParaRPr lang="en-US" sz="2000" dirty="0"/>
          </a:p>
        </p:txBody>
      </p:sp>
      <p:sp>
        <p:nvSpPr>
          <p:cNvPr id="4" name="Angular os Y"/>
          <p:cNvSpPr/>
          <p:nvPr/>
        </p:nvSpPr>
        <p:spPr>
          <a:xfrm>
            <a:off x="795528" y="1673352"/>
            <a:ext cx="0" cy="1417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5" name="Angular os X"/>
          <p:cNvSpPr/>
          <p:nvPr/>
        </p:nvSpPr>
        <p:spPr>
          <a:xfrm>
            <a:off x="795528" y="3090672"/>
            <a:ext cx="2057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Angular os Y popis"/>
          <p:cNvSpPr txBox="1"/>
          <p:nvPr/>
        </p:nvSpPr>
        <p:spPr>
          <a:xfrm rot="16200000">
            <a:off x="-50292" y="22448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náročnosť</a:t>
            </a:r>
            <a:endParaRPr lang="en-US" sz="1000" dirty="0"/>
          </a:p>
        </p:txBody>
      </p:sp>
      <p:sp>
        <p:nvSpPr>
          <p:cNvPr id="7" name="Angular os X popis"/>
          <p:cNvSpPr txBox="1"/>
          <p:nvPr/>
        </p:nvSpPr>
        <p:spPr>
          <a:xfrm>
            <a:off x="2304288" y="3118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čas</a:t>
            </a:r>
            <a:endParaRPr lang="en-US" sz="1000" dirty="0"/>
          </a:p>
        </p:txBody>
      </p:sp>
      <p:graphicFrame>
        <p:nvGraphicFramePr>
          <p:cNvPr id="8" name="Angular krivka" descr=""/>
          <p:cNvGraphicFramePr/>
          <p:nvPr/>
        </p:nvGraphicFramePr>
        <p:xfrm>
          <a:off x="822960" y="1746504"/>
          <a:ext cx="1947672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Angular štítok"/>
          <p:cNvSpPr/>
          <p:nvPr/>
        </p:nvSpPr>
        <p:spPr>
          <a:xfrm>
            <a:off x="658368" y="35204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FDE8EC"/>
          </a:solidFill>
          <a:ln/>
        </p:spPr>
      </p:sp>
      <p:sp>
        <p:nvSpPr>
          <p:cNvPr id="10" name="Angular štítok text"/>
          <p:cNvSpPr txBox="1"/>
          <p:nvPr/>
        </p:nvSpPr>
        <p:spPr>
          <a:xfrm>
            <a:off x="658368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3002F"/>
                </a:solidFill>
              </a:rPr>
              <a:t>Najnáročnejší: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3002F"/>
                </a:solidFill>
              </a:rPr>
              <a:t>Angular</a:t>
            </a:r>
            <a:endParaRPr lang="en-US" sz="1300" dirty="0"/>
          </a:p>
        </p:txBody>
      </p:sp>
      <p:sp>
        <p:nvSpPr>
          <p:cNvPr id="11" name="Oddeľovač 1"/>
          <p:cNvSpPr/>
          <p:nvPr/>
        </p:nvSpPr>
        <p:spPr>
          <a:xfrm>
            <a:off x="3172968" y="1051560"/>
            <a:ext cx="0" cy="3520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React názov"/>
          <p:cNvSpPr txBox="1"/>
          <p:nvPr/>
        </p:nvSpPr>
        <p:spPr>
          <a:xfrm>
            <a:off x="3172968" y="12893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React</a:t>
            </a:r>
            <a:endParaRPr lang="en-US" sz="2000" dirty="0"/>
          </a:p>
        </p:txBody>
      </p:sp>
      <p:sp>
        <p:nvSpPr>
          <p:cNvPr id="13" name="React os Y"/>
          <p:cNvSpPr/>
          <p:nvPr/>
        </p:nvSpPr>
        <p:spPr>
          <a:xfrm>
            <a:off x="3584448" y="1673352"/>
            <a:ext cx="0" cy="1417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14" name="React os X"/>
          <p:cNvSpPr/>
          <p:nvPr/>
        </p:nvSpPr>
        <p:spPr>
          <a:xfrm>
            <a:off x="3584448" y="3090672"/>
            <a:ext cx="2057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React os Y popis"/>
          <p:cNvSpPr txBox="1"/>
          <p:nvPr/>
        </p:nvSpPr>
        <p:spPr>
          <a:xfrm rot="16200000">
            <a:off x="2738628" y="22448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náročnosť</a:t>
            </a:r>
            <a:endParaRPr lang="en-US" sz="1000" dirty="0"/>
          </a:p>
        </p:txBody>
      </p:sp>
      <p:sp>
        <p:nvSpPr>
          <p:cNvPr id="16" name="React os X popis"/>
          <p:cNvSpPr txBox="1"/>
          <p:nvPr/>
        </p:nvSpPr>
        <p:spPr>
          <a:xfrm>
            <a:off x="5093208" y="3118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čas</a:t>
            </a:r>
            <a:endParaRPr lang="en-US" sz="1000" dirty="0"/>
          </a:p>
        </p:txBody>
      </p:sp>
      <p:graphicFrame>
        <p:nvGraphicFramePr>
          <p:cNvPr id="17" name="React krivka" descr=""/>
          <p:cNvGraphicFramePr/>
          <p:nvPr/>
        </p:nvGraphicFramePr>
        <p:xfrm>
          <a:off x="3611880" y="1746504"/>
          <a:ext cx="1947672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eact štítok"/>
          <p:cNvSpPr/>
          <p:nvPr/>
        </p:nvSpPr>
        <p:spPr>
          <a:xfrm>
            <a:off x="3447288" y="35204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/>
        </p:spPr>
      </p:sp>
      <p:sp>
        <p:nvSpPr>
          <p:cNvPr id="19" name="React štítok text"/>
          <p:cNvSpPr txBox="1"/>
          <p:nvPr/>
        </p:nvSpPr>
        <p:spPr>
          <a:xfrm>
            <a:off x="3447288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7490"/>
                </a:solidFill>
              </a:rPr>
              <a:t>Stredne náročný: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E7490"/>
                </a:solidFill>
              </a:rPr>
              <a:t>React</a:t>
            </a:r>
            <a:endParaRPr lang="en-US" sz="1300" dirty="0"/>
          </a:p>
        </p:txBody>
      </p:sp>
      <p:sp>
        <p:nvSpPr>
          <p:cNvPr id="20" name="Oddeľovač 2"/>
          <p:cNvSpPr/>
          <p:nvPr/>
        </p:nvSpPr>
        <p:spPr>
          <a:xfrm>
            <a:off x="5961888" y="1051560"/>
            <a:ext cx="0" cy="3520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Vue názov"/>
          <p:cNvSpPr txBox="1"/>
          <p:nvPr/>
        </p:nvSpPr>
        <p:spPr>
          <a:xfrm>
            <a:off x="5961888" y="12893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7A55"/>
                </a:solidFill>
              </a:rPr>
              <a:t>Vue</a:t>
            </a:r>
            <a:endParaRPr lang="en-US" sz="2000" dirty="0"/>
          </a:p>
        </p:txBody>
      </p:sp>
      <p:sp>
        <p:nvSpPr>
          <p:cNvPr id="22" name="Vue os Y"/>
          <p:cNvSpPr/>
          <p:nvPr/>
        </p:nvSpPr>
        <p:spPr>
          <a:xfrm>
            <a:off x="6373368" y="1673352"/>
            <a:ext cx="0" cy="14173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23" name="Vue os X"/>
          <p:cNvSpPr/>
          <p:nvPr/>
        </p:nvSpPr>
        <p:spPr>
          <a:xfrm>
            <a:off x="6373368" y="3090672"/>
            <a:ext cx="20574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Vue os Y popis"/>
          <p:cNvSpPr txBox="1"/>
          <p:nvPr/>
        </p:nvSpPr>
        <p:spPr>
          <a:xfrm rot="16200000">
            <a:off x="5527548" y="224485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náročnosť</a:t>
            </a:r>
            <a:endParaRPr lang="en-US" sz="1000" dirty="0"/>
          </a:p>
        </p:txBody>
      </p:sp>
      <p:sp>
        <p:nvSpPr>
          <p:cNvPr id="25" name="Vue os X popis"/>
          <p:cNvSpPr txBox="1"/>
          <p:nvPr/>
        </p:nvSpPr>
        <p:spPr>
          <a:xfrm>
            <a:off x="7882128" y="3118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čas</a:t>
            </a:r>
            <a:endParaRPr lang="en-US" sz="1000" dirty="0"/>
          </a:p>
        </p:txBody>
      </p:sp>
      <p:graphicFrame>
        <p:nvGraphicFramePr>
          <p:cNvPr id="26" name="Vue krivka" descr=""/>
          <p:cNvGraphicFramePr/>
          <p:nvPr/>
        </p:nvGraphicFramePr>
        <p:xfrm>
          <a:off x="6400800" y="1746504"/>
          <a:ext cx="1947672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Vue štítok"/>
          <p:cNvSpPr/>
          <p:nvPr/>
        </p:nvSpPr>
        <p:spPr>
          <a:xfrm>
            <a:off x="6236208" y="35204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E6F6EF"/>
          </a:solidFill>
          <a:ln/>
        </p:spPr>
      </p:sp>
      <p:sp>
        <p:nvSpPr>
          <p:cNvPr id="28" name="Vue štítok text"/>
          <p:cNvSpPr txBox="1"/>
          <p:nvPr/>
        </p:nvSpPr>
        <p:spPr>
          <a:xfrm>
            <a:off x="6236208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7A55"/>
                </a:solidFill>
              </a:rPr>
              <a:t>Najľahší na začiatok: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7A55"/>
                </a:solidFill>
              </a:rPr>
              <a:t>Vue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Trend: signály</a:t>
            </a:r>
            <a:endParaRPr lang="en-US" sz="3000" dirty="0"/>
          </a:p>
        </p:txBody>
      </p:sp>
      <p:sp>
        <p:nvSpPr>
          <p:cNvPr id="3" name="Signál definícia karta"/>
          <p:cNvSpPr/>
          <p:nvPr/>
        </p:nvSpPr>
        <p:spPr>
          <a:xfrm>
            <a:off x="457200" y="1024128"/>
            <a:ext cx="4800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4" name="Signál definícia"/>
          <p:cNvSpPr txBox="1"/>
          <p:nvPr/>
        </p:nvSpPr>
        <p:spPr>
          <a:xfrm>
            <a:off x="640080" y="10241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Signál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= reaktívna hodnota, ktorá sleduje, kto ju číta, a pri zmene upozorní závislých.</a:t>
            </a:r>
            <a:endParaRPr lang="en-US" sz="1350" dirty="0"/>
          </a:p>
        </p:txBody>
      </p:sp>
      <p:sp>
        <p:nvSpPr>
          <p:cNvPr id="5" name="Signály odrážky"/>
          <p:cNvSpPr txBox="1"/>
          <p:nvPr/>
        </p:nvSpPr>
        <p:spPr>
          <a:xfrm>
            <a:off x="457200" y="1874520"/>
            <a:ext cx="4800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Jemnozrnné aktualizácie: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zmení sa len konkrétne miesto v DOM (SolidJS, Preact). Návrh TC39 chce signály priamo v JavaScripte.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Vue: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3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ref()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je v podstate signál, len sa tak nevolá (rovnaký princíp má aj Options API). Pri zmene však prekreslí komponent cez VDOM.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Angular: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Signals od v16, nové projekty bez Zone.js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Svelte 5: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runes – </a:t>
            </a:r>
            <a:pPr indent="0" marL="0">
              <a:buNone/>
            </a:pPr>
            <a:r>
              <a:rPr lang="en-US" sz="13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$state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$derived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$effect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Vue 3.6 (RC):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Vapor Mode – jemnozrnné aktualizácie DOM bez Virtual DOM, ako v Solide</a:t>
            </a:r>
            <a:endParaRPr lang="en-US" sz="1300" dirty="0"/>
          </a:p>
        </p:txBody>
      </p:sp>
      <p:sp>
        <p:nvSpPr>
          <p:cNvPr id="6" name="Signály kód pozadie"/>
          <p:cNvSpPr/>
          <p:nvPr/>
        </p:nvSpPr>
        <p:spPr>
          <a:xfrm>
            <a:off x="5532120" y="1024128"/>
            <a:ext cx="3154680" cy="329184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/>
        </p:spPr>
      </p:sp>
      <p:sp>
        <p:nvSpPr>
          <p:cNvPr id="7" name="Signály kód hlavička"/>
          <p:cNvSpPr/>
          <p:nvPr/>
        </p:nvSpPr>
        <p:spPr>
          <a:xfrm>
            <a:off x="5532120" y="1024128"/>
            <a:ext cx="315468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8" name="Signály kód hlavička spoj"/>
          <p:cNvSpPr/>
          <p:nvPr/>
        </p:nvSpPr>
        <p:spPr>
          <a:xfrm>
            <a:off x="5532120" y="1261872"/>
            <a:ext cx="315468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ignály kód bodka 1"/>
          <p:cNvSpPr/>
          <p:nvPr/>
        </p:nvSpPr>
        <p:spPr>
          <a:xfrm>
            <a:off x="5641848" y="1106424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ignály kód bodka 2"/>
          <p:cNvSpPr/>
          <p:nvPr/>
        </p:nvSpPr>
        <p:spPr>
          <a:xfrm>
            <a:off x="5788152" y="1106424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ignály kód bodka 3"/>
          <p:cNvSpPr/>
          <p:nvPr/>
        </p:nvSpPr>
        <p:spPr>
          <a:xfrm>
            <a:off x="5934456" y="1106424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Signály kód názov"/>
          <p:cNvSpPr txBox="1"/>
          <p:nvPr/>
        </p:nvSpPr>
        <p:spPr>
          <a:xfrm>
            <a:off x="6099048" y="1024128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koncept, 4 zápisy</a:t>
            </a:r>
            <a:endParaRPr lang="en-US" sz="900" dirty="0"/>
          </a:p>
        </p:txBody>
      </p:sp>
      <p:sp>
        <p:nvSpPr>
          <p:cNvPr id="13" name="Signály kód"/>
          <p:cNvSpPr txBox="1"/>
          <p:nvPr/>
        </p:nvSpPr>
        <p:spPr>
          <a:xfrm>
            <a:off x="5532120" y="1280160"/>
            <a:ext cx="3154680" cy="303580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Vue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Angular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Svelte 5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$state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SolidJS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[count, setCount] =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createSignal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42B883"/>
                </a:solidFill>
              </a:rPr>
              <a:t>03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Vue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komponenty · Composition API · reaktivita · životný cyklus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Vue.js</a:t>
            </a:r>
            <a:endParaRPr lang="en-US" sz="3000" dirty="0"/>
          </a:p>
        </p:txBody>
      </p:sp>
      <p:sp>
        <p:nvSpPr>
          <p:cNvPr id="3" name="Vue odrážky"/>
          <p:cNvSpPr txBox="1"/>
          <p:nvPr/>
        </p:nvSpPr>
        <p:spPr>
          <a:xfrm>
            <a:off x="457200" y="105156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Vue (čítaj /vjuː/, ako anglické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view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) je progresívny framework na tvorbu používateľských rozhraní.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Postavený na štandardoch HTML, CSS a JavaScript.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Deklaratívne vykresľovanie: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šablóna opisuje, ako má HTML vyzerať podľa stavu.</a:t>
            </a:r>
            <a:endParaRPr lang="en-US" sz="16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Reaktivita: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Vue sleduje zmeny stavu a efektívne aktualizuje DOM.</a:t>
            </a:r>
            <a:endParaRPr lang="en-US" sz="1600" dirty="0"/>
          </a:p>
        </p:txBody>
      </p:sp>
      <p:sp>
        <p:nvSpPr>
          <p:cNvPr id="4" name="Fakt 1 karta"/>
          <p:cNvSpPr/>
          <p:nvPr/>
        </p:nvSpPr>
        <p:spPr>
          <a:xfrm>
            <a:off x="5623560" y="1051560"/>
            <a:ext cx="1463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5" name="Fakt 1"/>
          <p:cNvSpPr txBox="1"/>
          <p:nvPr/>
        </p:nvSpPr>
        <p:spPr>
          <a:xfrm>
            <a:off x="5733288" y="11612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55"/>
                </a:solidFill>
              </a:rPr>
              <a:t>2014</a:t>
            </a:r>
            <a:endParaRPr lang="en-US" sz="2400" dirty="0"/>
          </a:p>
        </p:txBody>
      </p:sp>
      <p:sp>
        <p:nvSpPr>
          <p:cNvPr id="6" name="Fakt 1 popis"/>
          <p:cNvSpPr txBox="1"/>
          <p:nvPr/>
        </p:nvSpPr>
        <p:spPr>
          <a:xfrm>
            <a:off x="5733288" y="1673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prvé vydanie (Evan You)</a:t>
            </a:r>
            <a:endParaRPr lang="en-US" sz="1100" dirty="0"/>
          </a:p>
        </p:txBody>
      </p:sp>
      <p:sp>
        <p:nvSpPr>
          <p:cNvPr id="7" name="Fakt 2 karta"/>
          <p:cNvSpPr/>
          <p:nvPr/>
        </p:nvSpPr>
        <p:spPr>
          <a:xfrm>
            <a:off x="7223760" y="1051560"/>
            <a:ext cx="1463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8" name="Fakt 2"/>
          <p:cNvSpPr txBox="1"/>
          <p:nvPr/>
        </p:nvSpPr>
        <p:spPr>
          <a:xfrm>
            <a:off x="7333488" y="11612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55"/>
                </a:solidFill>
              </a:rPr>
              <a:t>3.5</a:t>
            </a:r>
            <a:endParaRPr lang="en-US" sz="2400" dirty="0"/>
          </a:p>
        </p:txBody>
      </p:sp>
      <p:sp>
        <p:nvSpPr>
          <p:cNvPr id="9" name="Fakt 2 popis"/>
          <p:cNvSpPr txBox="1"/>
          <p:nvPr/>
        </p:nvSpPr>
        <p:spPr>
          <a:xfrm>
            <a:off x="7333488" y="16733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aktuálna verzia</a:t>
            </a:r>
            <a:endParaRPr lang="en-US" sz="1100" dirty="0"/>
          </a:p>
        </p:txBody>
      </p:sp>
      <p:sp>
        <p:nvSpPr>
          <p:cNvPr id="10" name="Fakt 3 karta"/>
          <p:cNvSpPr/>
          <p:nvPr/>
        </p:nvSpPr>
        <p:spPr>
          <a:xfrm>
            <a:off x="5623560" y="2331720"/>
            <a:ext cx="1463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1" name="Fakt 3"/>
          <p:cNvSpPr txBox="1"/>
          <p:nvPr/>
        </p:nvSpPr>
        <p:spPr>
          <a:xfrm>
            <a:off x="5733288" y="2441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55"/>
                </a:solidFill>
              </a:rPr>
              <a:t>3.6 RC</a:t>
            </a:r>
            <a:endParaRPr lang="en-US" sz="2400" dirty="0"/>
          </a:p>
        </p:txBody>
      </p:sp>
      <p:sp>
        <p:nvSpPr>
          <p:cNvPr id="12" name="Fakt 3 popis"/>
          <p:cNvSpPr txBox="1"/>
          <p:nvPr/>
        </p:nvSpPr>
        <p:spPr>
          <a:xfrm>
            <a:off x="5733288" y="29535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Vapor Mode – bez VDOM</a:t>
            </a:r>
            <a:endParaRPr lang="en-US" sz="1100" dirty="0"/>
          </a:p>
        </p:txBody>
      </p:sp>
      <p:sp>
        <p:nvSpPr>
          <p:cNvPr id="13" name="Fakt 4 karta"/>
          <p:cNvSpPr/>
          <p:nvPr/>
        </p:nvSpPr>
        <p:spPr>
          <a:xfrm>
            <a:off x="7223760" y="2331720"/>
            <a:ext cx="146304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14" name="Fakt 4"/>
          <p:cNvSpPr txBox="1"/>
          <p:nvPr/>
        </p:nvSpPr>
        <p:spPr>
          <a:xfrm>
            <a:off x="7333488" y="24414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7A55"/>
                </a:solidFill>
              </a:rPr>
              <a:t>12/2023</a:t>
            </a:r>
            <a:endParaRPr lang="en-US" sz="2400" dirty="0"/>
          </a:p>
        </p:txBody>
      </p:sp>
      <p:sp>
        <p:nvSpPr>
          <p:cNvPr id="15" name="Fakt 4 popis"/>
          <p:cNvSpPr txBox="1"/>
          <p:nvPr/>
        </p:nvSpPr>
        <p:spPr>
          <a:xfrm>
            <a:off x="7333488" y="29535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koniec podpory Vue 2</a:t>
            </a:r>
            <a:endParaRPr lang="en-US" sz="1100" dirty="0"/>
          </a:p>
        </p:txBody>
      </p:sp>
      <p:sp>
        <p:nvSpPr>
          <p:cNvPr id="16" name="Vue 2 upozornenie karta"/>
          <p:cNvSpPr/>
          <p:nvPr/>
        </p:nvSpPr>
        <p:spPr>
          <a:xfrm>
            <a:off x="5623560" y="3657600"/>
            <a:ext cx="3063240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7" name="Vue 2 upozornenie"/>
          <p:cNvSpPr txBox="1"/>
          <p:nvPr/>
        </p:nvSpPr>
        <p:spPr>
          <a:xfrm>
            <a:off x="5760720" y="3657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Nové projekty len vo Vue 3 – Vue 2 už nedostáva ani bezpečnostné opravy.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Komponenty</a:t>
            </a:r>
            <a:endParaRPr lang="en-US" sz="3000" dirty="0"/>
          </a:p>
        </p:txBody>
      </p:sp>
      <p:sp>
        <p:nvSpPr>
          <p:cNvPr id="3" name="Komponenty odrážky"/>
          <p:cNvSpPr txBox="1"/>
          <p:nvPr/>
        </p:nvSpPr>
        <p:spPr>
          <a:xfrm>
            <a:off x="457200" y="105156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Komponent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= samostatná, opakovane použiteľná časť UI so šablónou, logikou a štýlom.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Vo Vue typicky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Single-File Component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(súbor </a:t>
            </a:r>
            <a:pPr indent="0" marL="0">
              <a:buNone/>
            </a:pPr>
            <a:r>
              <a:rPr lang="en-US" sz="15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.vue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Dáta idú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dole cez props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udalosti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hore cez emits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Použitie v rodičovi</a:t>
            </a:r>
            <a:endParaRPr lang="en-US" sz="1300" dirty="0"/>
          </a:p>
        </p:txBody>
      </p:sp>
      <p:sp>
        <p:nvSpPr>
          <p:cNvPr id="5" name="Použitie kód pozadie"/>
          <p:cNvSpPr/>
          <p:nvPr/>
        </p:nvSpPr>
        <p:spPr>
          <a:xfrm>
            <a:off x="457200" y="3611880"/>
            <a:ext cx="3657600" cy="566928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6" name="Použitie kód"/>
          <p:cNvSpPr txBox="1"/>
          <p:nvPr/>
        </p:nvSpPr>
        <p:spPr>
          <a:xfrm>
            <a:off x="457200" y="3611880"/>
            <a:ext cx="3657600" cy="56692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&lt;ProfileCard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"Anton"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@edit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"onEdit"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50" dirty="0"/>
          </a:p>
        </p:txBody>
      </p:sp>
      <p:sp>
        <p:nvSpPr>
          <p:cNvPr id="7" name="SFC kód pozadie"/>
          <p:cNvSpPr/>
          <p:nvPr/>
        </p:nvSpPr>
        <p:spPr>
          <a:xfrm>
            <a:off x="4343400" y="1051560"/>
            <a:ext cx="4343400" cy="3429000"/>
          </a:xfrm>
          <a:prstGeom prst="roundRect">
            <a:avLst>
              <a:gd name="adj" fmla="val 1600"/>
            </a:avLst>
          </a:prstGeom>
          <a:solidFill>
            <a:srgbClr val="1E293B"/>
          </a:solidFill>
          <a:ln/>
        </p:spPr>
      </p:sp>
      <p:sp>
        <p:nvSpPr>
          <p:cNvPr id="8" name="SFC kód hlavička"/>
          <p:cNvSpPr/>
          <p:nvPr/>
        </p:nvSpPr>
        <p:spPr>
          <a:xfrm>
            <a:off x="4343400" y="1051560"/>
            <a:ext cx="434340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9" name="SFC kód hlavička spoj"/>
          <p:cNvSpPr/>
          <p:nvPr/>
        </p:nvSpPr>
        <p:spPr>
          <a:xfrm>
            <a:off x="4343400" y="1289304"/>
            <a:ext cx="434340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FC kód bodka 1"/>
          <p:cNvSpPr/>
          <p:nvPr/>
        </p:nvSpPr>
        <p:spPr>
          <a:xfrm>
            <a:off x="4453128" y="11338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FC kód bodka 2"/>
          <p:cNvSpPr/>
          <p:nvPr/>
        </p:nvSpPr>
        <p:spPr>
          <a:xfrm>
            <a:off x="4599432" y="11338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FC kód bodka 3"/>
          <p:cNvSpPr/>
          <p:nvPr/>
        </p:nvSpPr>
        <p:spPr>
          <a:xfrm>
            <a:off x="4745736" y="11338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SFC kód názov"/>
          <p:cNvSpPr txBox="1"/>
          <p:nvPr/>
        </p:nvSpPr>
        <p:spPr>
          <a:xfrm>
            <a:off x="4910328" y="105156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ProfileCard.vue</a:t>
            </a:r>
            <a:endParaRPr lang="en-US" sz="900" dirty="0"/>
          </a:p>
        </p:txBody>
      </p:sp>
      <p:sp>
        <p:nvSpPr>
          <p:cNvPr id="14" name="SFC kód"/>
          <p:cNvSpPr txBox="1"/>
          <p:nvPr/>
        </p:nvSpPr>
        <p:spPr>
          <a:xfrm>
            <a:off x="4343400" y="1307592"/>
            <a:ext cx="4343400" cy="31729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setup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defineProps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name: String })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emit =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defineEmits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'edit'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"card"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"emit('edit')"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Upraviť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&lt;style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scoped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 padding: 1rem; }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&lt;/style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Options API vs. Composition API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Options API</a:t>
            </a:r>
            <a:pPr indent="0" marL="0">
              <a:buNone/>
            </a:pPr>
            <a:r>
              <a:rPr lang="en-US" sz="1350" dirty="0">
                <a:solidFill>
                  <a:schemeClr val="accent2"/>
                </a:solidFill>
              </a:rPr>
              <a:t> – štýl Vue 2, stále podporované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</a:rPr>
              <a:t>Composition API</a:t>
            </a:r>
            <a:pPr indent="0" marL="0">
              <a:buNone/>
            </a:pPr>
            <a:r>
              <a:rPr lang="en-US" sz="1350" dirty="0">
                <a:solidFill>
                  <a:schemeClr val="accent2"/>
                </a:solidFill>
              </a:rPr>
              <a:t> + </a:t>
            </a:r>
            <a:pPr indent="0" marL="0">
              <a:buNone/>
            </a:pPr>
            <a:r>
              <a:rPr lang="en-US" sz="13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pPr indent="0" marL="0">
              <a:buNone/>
            </a:pPr>
            <a:r>
              <a:rPr lang="en-US" sz="1350" dirty="0">
                <a:solidFill>
                  <a:schemeClr val="accent2"/>
                </a:solidFill>
              </a:rPr>
              <a:t> – odporúčané</a:t>
            </a:r>
            <a:endParaRPr lang="en-US" sz="1350" dirty="0"/>
          </a:p>
        </p:txBody>
      </p:sp>
      <p:sp>
        <p:nvSpPr>
          <p:cNvPr id="5" name="Options kód pozadie"/>
          <p:cNvSpPr/>
          <p:nvPr/>
        </p:nvSpPr>
        <p:spPr>
          <a:xfrm>
            <a:off x="457200" y="1325880"/>
            <a:ext cx="4023360" cy="315468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/>
        </p:spPr>
      </p:sp>
      <p:sp>
        <p:nvSpPr>
          <p:cNvPr id="6" name="Options kód hlavička"/>
          <p:cNvSpPr/>
          <p:nvPr/>
        </p:nvSpPr>
        <p:spPr>
          <a:xfrm>
            <a:off x="457200" y="132588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7" name="Options kód hlavička spoj"/>
          <p:cNvSpPr/>
          <p:nvPr/>
        </p:nvSpPr>
        <p:spPr>
          <a:xfrm>
            <a:off x="457200" y="156362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Options kód bodka 1"/>
          <p:cNvSpPr/>
          <p:nvPr/>
        </p:nvSpPr>
        <p:spPr>
          <a:xfrm>
            <a:off x="566928" y="14081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Options kód bodka 2"/>
          <p:cNvSpPr/>
          <p:nvPr/>
        </p:nvSpPr>
        <p:spPr>
          <a:xfrm>
            <a:off x="713232" y="14081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Options kód bodka 3"/>
          <p:cNvSpPr/>
          <p:nvPr/>
        </p:nvSpPr>
        <p:spPr>
          <a:xfrm>
            <a:off x="859536" y="14081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Options kód názov"/>
          <p:cNvSpPr txBox="1"/>
          <p:nvPr/>
        </p:nvSpPr>
        <p:spPr>
          <a:xfrm>
            <a:off x="1024128" y="13258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Options.vue</a:t>
            </a:r>
            <a:endParaRPr lang="en-US" sz="900" dirty="0"/>
          </a:p>
        </p:txBody>
      </p:sp>
      <p:sp>
        <p:nvSpPr>
          <p:cNvPr id="12" name="Options kód"/>
          <p:cNvSpPr txBox="1"/>
          <p:nvPr/>
        </p:nvSpPr>
        <p:spPr>
          <a:xfrm>
            <a:off x="457200" y="1581912"/>
            <a:ext cx="4023360" cy="289864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message: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World'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methods: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(this.message)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13" name="Composition kód pozadie"/>
          <p:cNvSpPr/>
          <p:nvPr/>
        </p:nvSpPr>
        <p:spPr>
          <a:xfrm>
            <a:off x="4663440" y="1325880"/>
            <a:ext cx="4023360" cy="3154680"/>
          </a:xfrm>
          <a:prstGeom prst="roundRect">
            <a:avLst>
              <a:gd name="adj" fmla="val 1739"/>
            </a:avLst>
          </a:prstGeom>
          <a:solidFill>
            <a:srgbClr val="1E293B"/>
          </a:solidFill>
          <a:ln/>
        </p:spPr>
      </p:sp>
      <p:sp>
        <p:nvSpPr>
          <p:cNvPr id="14" name="Composition kód hlavička"/>
          <p:cNvSpPr/>
          <p:nvPr/>
        </p:nvSpPr>
        <p:spPr>
          <a:xfrm>
            <a:off x="4663440" y="132588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5" name="Composition kód hlavička spoj"/>
          <p:cNvSpPr/>
          <p:nvPr/>
        </p:nvSpPr>
        <p:spPr>
          <a:xfrm>
            <a:off x="4663440" y="156362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Composition kód bodka 1"/>
          <p:cNvSpPr/>
          <p:nvPr/>
        </p:nvSpPr>
        <p:spPr>
          <a:xfrm>
            <a:off x="4773168" y="140817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Composition kód bodka 2"/>
          <p:cNvSpPr/>
          <p:nvPr/>
        </p:nvSpPr>
        <p:spPr>
          <a:xfrm>
            <a:off x="4919472" y="140817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Composition kód bodka 3"/>
          <p:cNvSpPr/>
          <p:nvPr/>
        </p:nvSpPr>
        <p:spPr>
          <a:xfrm>
            <a:off x="5065776" y="140817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Composition kód názov"/>
          <p:cNvSpPr txBox="1"/>
          <p:nvPr/>
        </p:nvSpPr>
        <p:spPr>
          <a:xfrm>
            <a:off x="5230368" y="13258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Composition.vue</a:t>
            </a:r>
            <a:endParaRPr lang="en-US" sz="900" dirty="0"/>
          </a:p>
        </p:txBody>
      </p:sp>
      <p:sp>
        <p:nvSpPr>
          <p:cNvPr id="20" name="Composition kód"/>
          <p:cNvSpPr txBox="1"/>
          <p:nvPr/>
        </p:nvSpPr>
        <p:spPr>
          <a:xfrm>
            <a:off x="4663440" y="1581912"/>
            <a:ext cx="4023360" cy="289864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setup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ref }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'vue'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'Hello World'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(message.value)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@click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"greet"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Composition API – reaktívny stav</a:t>
            </a:r>
            <a:endParaRPr lang="en-US" sz="3000" dirty="0"/>
          </a:p>
        </p:txBody>
      </p:sp>
      <p:sp>
        <p:nvSpPr>
          <p:cNvPr id="3" name="ref() karta"/>
          <p:cNvSpPr/>
          <p:nvPr/>
        </p:nvSpPr>
        <p:spPr>
          <a:xfrm>
            <a:off x="457200" y="10058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ref()"/>
          <p:cNvSpPr txBox="1"/>
          <p:nvPr/>
        </p:nvSpPr>
        <p:spPr>
          <a:xfrm>
            <a:off x="621792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ref()</a:t>
            </a:r>
            <a:endParaRPr lang="en-US" sz="1500" dirty="0"/>
          </a:p>
        </p:txBody>
      </p:sp>
      <p:sp>
        <p:nvSpPr>
          <p:cNvPr id="5" name="ref() popis"/>
          <p:cNvSpPr txBox="1"/>
          <p:nvPr/>
        </p:nvSpPr>
        <p:spPr>
          <a:xfrm>
            <a:off x="621792" y="14081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akákoľvek hodnota, v JS cez .value</a:t>
            </a:r>
            <a:endParaRPr lang="en-US" sz="1200" dirty="0"/>
          </a:p>
        </p:txBody>
      </p:sp>
      <p:sp>
        <p:nvSpPr>
          <p:cNvPr id="6" name="ref() kód pozadie"/>
          <p:cNvSpPr/>
          <p:nvPr/>
        </p:nvSpPr>
        <p:spPr>
          <a:xfrm>
            <a:off x="594360" y="171907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7" name="ref() kód"/>
          <p:cNvSpPr txBox="1"/>
          <p:nvPr/>
        </p:nvSpPr>
        <p:spPr>
          <a:xfrm>
            <a:off x="594360" y="1719072"/>
            <a:ext cx="3749040" cy="6583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count.value++</a:t>
            </a:r>
            <a:endParaRPr lang="en-US" sz="1100" dirty="0"/>
          </a:p>
        </p:txBody>
      </p:sp>
      <p:sp>
        <p:nvSpPr>
          <p:cNvPr id="8" name="reactive() karta"/>
          <p:cNvSpPr/>
          <p:nvPr/>
        </p:nvSpPr>
        <p:spPr>
          <a:xfrm>
            <a:off x="4663440" y="10058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reactive()"/>
          <p:cNvSpPr txBox="1"/>
          <p:nvPr/>
        </p:nvSpPr>
        <p:spPr>
          <a:xfrm>
            <a:off x="4828032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reactive()</a:t>
            </a:r>
            <a:endParaRPr lang="en-US" sz="1500" dirty="0"/>
          </a:p>
        </p:txBody>
      </p:sp>
      <p:sp>
        <p:nvSpPr>
          <p:cNvPr id="10" name="reactive() popis"/>
          <p:cNvSpPr txBox="1"/>
          <p:nvPr/>
        </p:nvSpPr>
        <p:spPr>
          <a:xfrm>
            <a:off x="4828032" y="14081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len objekty a polia, bez .value</a:t>
            </a:r>
            <a:endParaRPr lang="en-US" sz="1200" dirty="0"/>
          </a:p>
        </p:txBody>
      </p:sp>
      <p:sp>
        <p:nvSpPr>
          <p:cNvPr id="11" name="reactive() kód pozadie"/>
          <p:cNvSpPr/>
          <p:nvPr/>
        </p:nvSpPr>
        <p:spPr>
          <a:xfrm>
            <a:off x="4800600" y="171907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2" name="reactive() kód"/>
          <p:cNvSpPr txBox="1"/>
          <p:nvPr/>
        </p:nvSpPr>
        <p:spPr>
          <a:xfrm>
            <a:off x="4800600" y="1719072"/>
            <a:ext cx="3749040" cy="6583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name: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'Anna'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user.name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'Eva'</a:t>
            </a:r>
            <a:endParaRPr lang="en-US" sz="1100" dirty="0"/>
          </a:p>
        </p:txBody>
      </p:sp>
      <p:sp>
        <p:nvSpPr>
          <p:cNvPr id="13" name="computed() karta"/>
          <p:cNvSpPr/>
          <p:nvPr/>
        </p:nvSpPr>
        <p:spPr>
          <a:xfrm>
            <a:off x="457200" y="26060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computed()"/>
          <p:cNvSpPr txBox="1"/>
          <p:nvPr/>
        </p:nvSpPr>
        <p:spPr>
          <a:xfrm>
            <a:off x="621792" y="2697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computed()</a:t>
            </a:r>
            <a:endParaRPr lang="en-US" sz="1500" dirty="0"/>
          </a:p>
        </p:txBody>
      </p:sp>
      <p:sp>
        <p:nvSpPr>
          <p:cNvPr id="15" name="computed() popis"/>
          <p:cNvSpPr txBox="1"/>
          <p:nvPr/>
        </p:nvSpPr>
        <p:spPr>
          <a:xfrm>
            <a:off x="621792" y="30083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odvodená hodnota, prepočíta sa len pri zmene</a:t>
            </a:r>
            <a:endParaRPr lang="en-US" sz="1200" dirty="0"/>
          </a:p>
        </p:txBody>
      </p:sp>
      <p:sp>
        <p:nvSpPr>
          <p:cNvPr id="16" name="computed() kód pozadie"/>
          <p:cNvSpPr/>
          <p:nvPr/>
        </p:nvSpPr>
        <p:spPr>
          <a:xfrm>
            <a:off x="594360" y="331927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17" name="computed() kód"/>
          <p:cNvSpPr txBox="1"/>
          <p:nvPr/>
        </p:nvSpPr>
        <p:spPr>
          <a:xfrm>
            <a:off x="594360" y="3319272"/>
            <a:ext cx="3749040" cy="6583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double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count.value *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watch() karta"/>
          <p:cNvSpPr/>
          <p:nvPr/>
        </p:nvSpPr>
        <p:spPr>
          <a:xfrm>
            <a:off x="4663440" y="260604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watch()"/>
          <p:cNvSpPr txBox="1"/>
          <p:nvPr/>
        </p:nvSpPr>
        <p:spPr>
          <a:xfrm>
            <a:off x="4828032" y="2697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watch()</a:t>
            </a:r>
            <a:endParaRPr lang="en-US" sz="1500" dirty="0"/>
          </a:p>
        </p:txBody>
      </p:sp>
      <p:sp>
        <p:nvSpPr>
          <p:cNvPr id="20" name="watch() popis"/>
          <p:cNvSpPr txBox="1"/>
          <p:nvPr/>
        </p:nvSpPr>
        <p:spPr>
          <a:xfrm>
            <a:off x="4828032" y="30083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reakcia na zmenu – vedľajšie efekty (API…)</a:t>
            </a:r>
            <a:endParaRPr lang="en-US" sz="1200" dirty="0"/>
          </a:p>
        </p:txBody>
      </p:sp>
      <p:sp>
        <p:nvSpPr>
          <p:cNvPr id="21" name="watch() kód pozadie"/>
          <p:cNvSpPr/>
          <p:nvPr/>
        </p:nvSpPr>
        <p:spPr>
          <a:xfrm>
            <a:off x="4800600" y="3319272"/>
            <a:ext cx="3749040" cy="658368"/>
          </a:xfrm>
          <a:prstGeom prst="roundRect">
            <a:avLst>
              <a:gd name="adj" fmla="val 8333"/>
            </a:avLst>
          </a:prstGeom>
          <a:solidFill>
            <a:srgbClr val="1E293B"/>
          </a:solidFill>
          <a:ln/>
        </p:spPr>
      </p:sp>
      <p:sp>
        <p:nvSpPr>
          <p:cNvPr id="22" name="watch() kód"/>
          <p:cNvSpPr txBox="1"/>
          <p:nvPr/>
        </p:nvSpPr>
        <p:spPr>
          <a:xfrm>
            <a:off x="4800600" y="3319272"/>
            <a:ext cx="3749040" cy="6583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(count, (nova, stara)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(stara,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'→'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nova)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23" name="Pravidlo karta"/>
          <p:cNvSpPr/>
          <p:nvPr/>
        </p:nvSpPr>
        <p:spPr>
          <a:xfrm>
            <a:off x="457200" y="422452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6F6EF"/>
          </a:solidFill>
          <a:ln/>
        </p:spPr>
      </p:sp>
      <p:sp>
        <p:nvSpPr>
          <p:cNvPr id="24" name="Pravidlo"/>
          <p:cNvSpPr txBox="1"/>
          <p:nvPr/>
        </p:nvSpPr>
        <p:spPr>
          <a:xfrm>
            <a:off x="640080" y="422452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Pravidlo: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</a:t>
            </a:r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ref()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ako predvolená voľba · </a:t>
            </a:r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namiesto ručného prepočítavania · </a:t>
            </a:r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 len na vedľajšie efekty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Ako funguje reaktivita vo Vue</a:t>
            </a:r>
            <a:endParaRPr lang="en-US" sz="3000" dirty="0"/>
          </a:p>
        </p:txBody>
      </p:sp>
      <p:sp>
        <p:nvSpPr>
          <p:cNvPr id="3" name="Proxy kruh"/>
          <p:cNvSpPr/>
          <p:nvPr/>
        </p:nvSpPr>
        <p:spPr>
          <a:xfrm>
            <a:off x="457200" y="1051560"/>
            <a:ext cx="475488" cy="475488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4" name="Proxy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170432"/>
            <a:ext cx="237744" cy="237744"/>
          </a:xfrm>
          <a:prstGeom prst="rect">
            <a:avLst/>
          </a:prstGeom>
        </p:spPr>
      </p:pic>
      <p:sp>
        <p:nvSpPr>
          <p:cNvPr id="5" name="Proxy text"/>
          <p:cNvSpPr txBox="1"/>
          <p:nvPr/>
        </p:nvSpPr>
        <p:spPr>
          <a:xfrm>
            <a:off x="1097280" y="10058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Proxy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reactive()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obalí objekt do JavaScript Proxy.</a:t>
            </a:r>
            <a:endParaRPr lang="en-US" sz="1400" dirty="0"/>
          </a:p>
        </p:txBody>
      </p:sp>
      <p:sp>
        <p:nvSpPr>
          <p:cNvPr id="6" name="track – pri čítaní (get) kruh"/>
          <p:cNvSpPr/>
          <p:nvPr/>
        </p:nvSpPr>
        <p:spPr>
          <a:xfrm>
            <a:off x="457200" y="1965960"/>
            <a:ext cx="475488" cy="475488"/>
          </a:xfrm>
          <a:prstGeom prst="ellipse">
            <a:avLst/>
          </a:prstGeom>
          <a:solidFill>
            <a:srgbClr val="42B883"/>
          </a:solidFill>
          <a:ln/>
        </p:spPr>
      </p:sp>
      <p:pic>
        <p:nvPicPr>
          <p:cNvPr id="7" name="track – pri čítaní (get)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084832"/>
            <a:ext cx="237744" cy="237744"/>
          </a:xfrm>
          <a:prstGeom prst="rect">
            <a:avLst/>
          </a:prstGeom>
        </p:spPr>
      </p:pic>
      <p:sp>
        <p:nvSpPr>
          <p:cNvPr id="8" name="track – pri čítaní (get) text"/>
          <p:cNvSpPr txBox="1"/>
          <p:nvPr/>
        </p:nvSpPr>
        <p:spPr>
          <a:xfrm>
            <a:off x="1097280" y="19202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track – pri čítaní (get)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Vue si zapamätá, kto vlastnosť čítal.</a:t>
            </a:r>
            <a:endParaRPr lang="en-US" sz="1400" dirty="0"/>
          </a:p>
        </p:txBody>
      </p:sp>
      <p:sp>
        <p:nvSpPr>
          <p:cNvPr id="9" name="trigger – pri zápise (set) kruh"/>
          <p:cNvSpPr/>
          <p:nvPr/>
        </p:nvSpPr>
        <p:spPr>
          <a:xfrm>
            <a:off x="457200" y="2880360"/>
            <a:ext cx="475488" cy="475488"/>
          </a:xfrm>
          <a:prstGeom prst="ellipse">
            <a:avLst/>
          </a:prstGeom>
          <a:solidFill>
            <a:srgbClr val="42B883"/>
          </a:solidFill>
          <a:ln/>
        </p:spPr>
      </p:sp>
      <p:pic>
        <p:nvPicPr>
          <p:cNvPr id="10" name="trigger – pri zápise (set)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999232"/>
            <a:ext cx="237744" cy="237744"/>
          </a:xfrm>
          <a:prstGeom prst="rect">
            <a:avLst/>
          </a:prstGeom>
        </p:spPr>
      </p:pic>
      <p:sp>
        <p:nvSpPr>
          <p:cNvPr id="11" name="trigger – pri zápise (set) text"/>
          <p:cNvSpPr txBox="1"/>
          <p:nvPr/>
        </p:nvSpPr>
        <p:spPr>
          <a:xfrm>
            <a:off x="1097280" y="283464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trigger – pri zápise (set)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Vue znova spustí všetko, čo od nej závisí: prekreslenie, computed, watch.</a:t>
            </a:r>
            <a:endParaRPr lang="en-US" sz="1400" dirty="0"/>
          </a:p>
        </p:txBody>
      </p:sp>
      <p:sp>
        <p:nvSpPr>
          <p:cNvPr id="12" name="Ref poznámka"/>
          <p:cNvSpPr txBox="1"/>
          <p:nvPr/>
        </p:nvSpPr>
        <p:spPr>
          <a:xfrm>
            <a:off x="457200" y="3931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ref()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 funguje rovnako – hodnotu drží vo vlastnosti </a:t>
            </a:r>
            <a:pPr indent="0" marL="0">
              <a:buNone/>
            </a:pPr>
            <a:r>
              <a:rPr lang="en-US" sz="1300" i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.value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.</a:t>
            </a:r>
            <a:endParaRPr lang="en-US" sz="1300" dirty="0"/>
          </a:p>
        </p:txBody>
      </p:sp>
      <p:sp>
        <p:nvSpPr>
          <p:cNvPr id="13" name="Proxy kód pozadie"/>
          <p:cNvSpPr/>
          <p:nvPr/>
        </p:nvSpPr>
        <p:spPr>
          <a:xfrm>
            <a:off x="4526280" y="1051560"/>
            <a:ext cx="4160520" cy="3383280"/>
          </a:xfrm>
          <a:prstGeom prst="roundRect">
            <a:avLst>
              <a:gd name="adj" fmla="val 1622"/>
            </a:avLst>
          </a:prstGeom>
          <a:solidFill>
            <a:srgbClr val="1E293B"/>
          </a:solidFill>
          <a:ln/>
        </p:spPr>
      </p:sp>
      <p:sp>
        <p:nvSpPr>
          <p:cNvPr id="14" name="Proxy kód hlavička"/>
          <p:cNvSpPr/>
          <p:nvPr/>
        </p:nvSpPr>
        <p:spPr>
          <a:xfrm>
            <a:off x="4526280" y="1051560"/>
            <a:ext cx="416052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5" name="Proxy kód hlavička spoj"/>
          <p:cNvSpPr/>
          <p:nvPr/>
        </p:nvSpPr>
        <p:spPr>
          <a:xfrm>
            <a:off x="4526280" y="1289304"/>
            <a:ext cx="416052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Proxy kód bodka 1"/>
          <p:cNvSpPr/>
          <p:nvPr/>
        </p:nvSpPr>
        <p:spPr>
          <a:xfrm>
            <a:off x="4636008" y="11338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Proxy kód bodka 2"/>
          <p:cNvSpPr/>
          <p:nvPr/>
        </p:nvSpPr>
        <p:spPr>
          <a:xfrm>
            <a:off x="4782312" y="11338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Proxy kód bodka 3"/>
          <p:cNvSpPr/>
          <p:nvPr/>
        </p:nvSpPr>
        <p:spPr>
          <a:xfrm>
            <a:off x="4928616" y="11338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Proxy kód názov"/>
          <p:cNvSpPr txBox="1"/>
          <p:nvPr/>
        </p:nvSpPr>
        <p:spPr>
          <a:xfrm>
            <a:off x="5093208" y="105156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zjednodušený princíp (vuejs.org)</a:t>
            </a:r>
            <a:endParaRPr lang="en-US" sz="900" dirty="0"/>
          </a:p>
        </p:txBody>
      </p:sp>
      <p:sp>
        <p:nvSpPr>
          <p:cNvPr id="20" name="Proxy kód"/>
          <p:cNvSpPr txBox="1"/>
          <p:nvPr/>
        </p:nvSpPr>
        <p:spPr>
          <a:xfrm>
            <a:off x="4526280" y="1307592"/>
            <a:ext cx="4160520" cy="312724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(obj,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(target, key)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(target, key)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kto ma číta?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target[key]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(target, key, value)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target[key] = value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(target, key)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upozorni závislých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Signály: tri primitívy</a:t>
            </a:r>
            <a:endParaRPr lang="en-US" sz="3000" dirty="0"/>
          </a:p>
        </p:txBody>
      </p:sp>
      <p:graphicFrame>
        <p:nvGraphicFramePr>
          <p:cNvPr id="23" name="Primitívy tabuľk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Primitív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Vo Vue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Čo robí</a:t>
                      </a:r>
                      <a:endParaRPr lang="en-US" sz="13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495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</a:rPr>
                        <a:t>stav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7A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hodnota, ktorú čítaš a meníš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</a:rPr>
                        <a:t>odvodená hodnota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7A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computed()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počíta sa zo signálov, výsledok si pamätá (cache)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</a:rPr>
                        <a:t>efekt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7A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watch / render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</a:rPr>
                        <a:t>vedľajší účinok: zápis do DOM, volanie API…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edovanie karta"/>
          <p:cNvSpPr/>
          <p:nvPr/>
        </p:nvSpPr>
        <p:spPr>
          <a:xfrm>
            <a:off x="457200" y="2926080"/>
            <a:ext cx="8229600" cy="1508760"/>
          </a:xfrm>
          <a:prstGeom prst="roundRect">
            <a:avLst>
              <a:gd name="adj" fmla="val 4848"/>
            </a:avLst>
          </a:prstGeom>
          <a:solidFill>
            <a:srgbClr val="E6F6EF"/>
          </a:solidFill>
          <a:ln/>
        </p:spPr>
      </p:sp>
      <p:sp>
        <p:nvSpPr>
          <p:cNvPr id="5" name="Sledovanie kruh"/>
          <p:cNvSpPr/>
          <p:nvPr/>
        </p:nvSpPr>
        <p:spPr>
          <a:xfrm>
            <a:off x="640080" y="3127248"/>
            <a:ext cx="502920" cy="502920"/>
          </a:xfrm>
          <a:prstGeom prst="ellipse">
            <a:avLst/>
          </a:prstGeom>
          <a:solidFill>
            <a:srgbClr val="42B883"/>
          </a:solidFill>
          <a:ln/>
        </p:spPr>
      </p:sp>
      <p:pic>
        <p:nvPicPr>
          <p:cNvPr id="6" name="Sledovanie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3252978"/>
            <a:ext cx="251460" cy="251460"/>
          </a:xfrm>
          <a:prstGeom prst="rect">
            <a:avLst/>
          </a:prstGeom>
        </p:spPr>
      </p:pic>
      <p:sp>
        <p:nvSpPr>
          <p:cNvPr id="7" name="Sledovanie text"/>
          <p:cNvSpPr txBox="1"/>
          <p:nvPr/>
        </p:nvSpPr>
        <p:spPr>
          <a:xfrm>
            <a:off x="1325880" y="3017520"/>
            <a:ext cx="7178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Celý trik je v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93B"/>
                </a:solidFill>
              </a:rPr>
              <a:t>automatickom sledovaní závislostí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E293B"/>
                </a:solidFill>
              </a:rPr>
              <a:t>Keď beží efekt, framework si pamätá „práve beží efekt X“. Každý signál, ktorý sa počas toho prečíta, si X zapíše ako odberateľa. Pri zmene upozorní len svojich odberateľov.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Signál na pár riadkov</a:t>
            </a:r>
            <a:endParaRPr lang="en-US" sz="3000" dirty="0"/>
          </a:p>
        </p:txBody>
      </p:sp>
      <p:sp>
        <p:nvSpPr>
          <p:cNvPr id="3" name="Signal kód pozadie"/>
          <p:cNvSpPr/>
          <p:nvPr/>
        </p:nvSpPr>
        <p:spPr>
          <a:xfrm>
            <a:off x="457200" y="1005840"/>
            <a:ext cx="4069080" cy="3520440"/>
          </a:xfrm>
          <a:prstGeom prst="roundRect">
            <a:avLst>
              <a:gd name="adj" fmla="val 1558"/>
            </a:avLst>
          </a:prstGeom>
          <a:solidFill>
            <a:srgbClr val="1E293B"/>
          </a:solidFill>
          <a:ln/>
        </p:spPr>
      </p:sp>
      <p:sp>
        <p:nvSpPr>
          <p:cNvPr id="4" name="Signal kód hlavička"/>
          <p:cNvSpPr/>
          <p:nvPr/>
        </p:nvSpPr>
        <p:spPr>
          <a:xfrm>
            <a:off x="457200" y="1005840"/>
            <a:ext cx="406908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5" name="Signal kód hlavička spoj"/>
          <p:cNvSpPr/>
          <p:nvPr/>
        </p:nvSpPr>
        <p:spPr>
          <a:xfrm>
            <a:off x="457200" y="1243584"/>
            <a:ext cx="406908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ignal kód bodka 1"/>
          <p:cNvSpPr/>
          <p:nvPr/>
        </p:nvSpPr>
        <p:spPr>
          <a:xfrm>
            <a:off x="566928" y="10881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ignal kód bodka 2"/>
          <p:cNvSpPr/>
          <p:nvPr/>
        </p:nvSpPr>
        <p:spPr>
          <a:xfrm>
            <a:off x="713232" y="10881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ignal kód bodka 3"/>
          <p:cNvSpPr/>
          <p:nvPr/>
        </p:nvSpPr>
        <p:spPr>
          <a:xfrm>
            <a:off x="859536" y="10881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Signal kód názov"/>
          <p:cNvSpPr txBox="1"/>
          <p:nvPr/>
        </p:nvSpPr>
        <p:spPr>
          <a:xfrm>
            <a:off x="1024128" y="1005840"/>
            <a:ext cx="3410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signal.js</a:t>
            </a:r>
            <a:endParaRPr lang="en-US" sz="900" dirty="0"/>
          </a:p>
        </p:txBody>
      </p:sp>
      <p:sp>
        <p:nvSpPr>
          <p:cNvPr id="10" name="Signal kód"/>
          <p:cNvSpPr txBox="1"/>
          <p:nvPr/>
        </p:nvSpPr>
        <p:spPr>
          <a:xfrm>
            <a:off x="457200" y="1261872"/>
            <a:ext cx="4069080" cy="326440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currentEffect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subs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get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kto ma číta? → zapíšem si ho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(currentEffect) subs.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(currentEffect)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 = v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upozorním všetkých závislých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subs.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((fn)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Effect kód pozadie"/>
          <p:cNvSpPr/>
          <p:nvPr/>
        </p:nvSpPr>
        <p:spPr>
          <a:xfrm>
            <a:off x="4663440" y="1005840"/>
            <a:ext cx="4023360" cy="2514600"/>
          </a:xfrm>
          <a:prstGeom prst="roundRect">
            <a:avLst>
              <a:gd name="adj" fmla="val 2182"/>
            </a:avLst>
          </a:prstGeom>
          <a:solidFill>
            <a:srgbClr val="1E293B"/>
          </a:solidFill>
          <a:ln/>
        </p:spPr>
      </p:sp>
      <p:sp>
        <p:nvSpPr>
          <p:cNvPr id="12" name="Effect kód hlavička"/>
          <p:cNvSpPr/>
          <p:nvPr/>
        </p:nvSpPr>
        <p:spPr>
          <a:xfrm>
            <a:off x="4663440" y="100584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3" name="Effect kód hlavička spoj"/>
          <p:cNvSpPr/>
          <p:nvPr/>
        </p:nvSpPr>
        <p:spPr>
          <a:xfrm>
            <a:off x="4663440" y="1243584"/>
            <a:ext cx="40233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Effect kód bodka 1"/>
          <p:cNvSpPr/>
          <p:nvPr/>
        </p:nvSpPr>
        <p:spPr>
          <a:xfrm>
            <a:off x="4773168" y="108813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Effect kód bodka 2"/>
          <p:cNvSpPr/>
          <p:nvPr/>
        </p:nvSpPr>
        <p:spPr>
          <a:xfrm>
            <a:off x="4919472" y="108813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Effect kód bodka 3"/>
          <p:cNvSpPr/>
          <p:nvPr/>
        </p:nvSpPr>
        <p:spPr>
          <a:xfrm>
            <a:off x="5065776" y="108813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Effect kód názov"/>
          <p:cNvSpPr txBox="1"/>
          <p:nvPr/>
        </p:nvSpPr>
        <p:spPr>
          <a:xfrm>
            <a:off x="5230368" y="100584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effect.js</a:t>
            </a:r>
            <a:endParaRPr lang="en-US" sz="900" dirty="0"/>
          </a:p>
        </p:txBody>
      </p:sp>
      <p:sp>
        <p:nvSpPr>
          <p:cNvPr id="18" name="Effect kód"/>
          <p:cNvSpPr txBox="1"/>
          <p:nvPr/>
        </p:nvSpPr>
        <p:spPr>
          <a:xfrm>
            <a:off x="4663440" y="1261872"/>
            <a:ext cx="4023360" cy="22585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(fn)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currentEffect = fn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zaregistruje sa u signálov,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ktoré počas behu prečíta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currentEffect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(()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9D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console.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(count.value))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count.value++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1</a:t>
            </a:r>
            <a:endParaRPr lang="en-US" sz="1100" dirty="0"/>
          </a:p>
        </p:txBody>
      </p:sp>
      <p:sp>
        <p:nvSpPr>
          <p:cNvPr id="19" name="Naivná verzia karta"/>
          <p:cNvSpPr/>
          <p:nvPr/>
        </p:nvSpPr>
        <p:spPr>
          <a:xfrm>
            <a:off x="4663440" y="365760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/>
        </p:spPr>
      </p:sp>
      <p:sp>
        <p:nvSpPr>
          <p:cNvPr id="20" name="Naivná verzia"/>
          <p:cNvSpPr txBox="1"/>
          <p:nvPr/>
        </p:nvSpPr>
        <p:spPr>
          <a:xfrm>
            <a:off x="4800600" y="365760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Naivná verzia.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Skutočné implementácie pridávajú dávkovanie zmien, lenivé </a:t>
            </a:r>
            <a:pPr indent="0" marL="0">
              <a:buNone/>
            </a:pPr>
            <a:r>
              <a:rPr lang="en-US" sz="12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, ochranu pred „glitchmi“ a upratovanie.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Signály – na čo si dať pozor</a:t>
            </a:r>
            <a:endParaRPr lang="en-US" sz="3000" dirty="0"/>
          </a:p>
        </p:txBody>
      </p:sp>
      <p:sp>
        <p:nvSpPr>
          <p:cNvPr id="3" name="Pozor 1 karta"/>
          <p:cNvSpPr/>
          <p:nvPr/>
        </p:nvSpPr>
        <p:spPr>
          <a:xfrm>
            <a:off x="457200" y="10515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4" name="Reaktivita sa dá stratiť kruh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5" name="Reaktivita sa dá stratiť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60170"/>
            <a:ext cx="251460" cy="251460"/>
          </a:xfrm>
          <a:prstGeom prst="rect">
            <a:avLst/>
          </a:prstGeom>
        </p:spPr>
      </p:pic>
      <p:sp>
        <p:nvSpPr>
          <p:cNvPr id="6" name="Pozor 1"/>
          <p:cNvSpPr txBox="1"/>
          <p:nvPr/>
        </p:nvSpPr>
        <p:spPr>
          <a:xfrm>
            <a:off x="64008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Reaktivita sa dá stratiť</a:t>
            </a:r>
            <a:endParaRPr lang="en-US" sz="1500" dirty="0"/>
          </a:p>
        </p:txBody>
      </p:sp>
      <p:sp>
        <p:nvSpPr>
          <p:cNvPr id="7" name="Pozor 1 text"/>
          <p:cNvSpPr txBox="1"/>
          <p:nvPr/>
        </p:nvSpPr>
        <p:spPr>
          <a:xfrm>
            <a:off x="640080" y="24231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{ count } = state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 alebo hodnota prečítaná raz mimo efektu sa už nesleduje.</a:t>
            </a:r>
            <a:endParaRPr lang="en-US" sz="1250" dirty="0"/>
          </a:p>
        </p:txBody>
      </p:sp>
      <p:sp>
        <p:nvSpPr>
          <p:cNvPr id="8" name="Pozor 2 karta"/>
          <p:cNvSpPr/>
          <p:nvPr/>
        </p:nvSpPr>
        <p:spPr>
          <a:xfrm>
            <a:off x="2560320" y="10515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9" name="computed, nie watch kruh"/>
          <p:cNvSpPr/>
          <p:nvPr/>
        </p:nvSpPr>
        <p:spPr>
          <a:xfrm>
            <a:off x="2743200" y="1234440"/>
            <a:ext cx="502920" cy="502920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10" name="computed, nie watch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930" y="1360170"/>
            <a:ext cx="251460" cy="251460"/>
          </a:xfrm>
          <a:prstGeom prst="rect">
            <a:avLst/>
          </a:prstGeom>
        </p:spPr>
      </p:pic>
      <p:sp>
        <p:nvSpPr>
          <p:cNvPr id="11" name="Pozor 2"/>
          <p:cNvSpPr txBox="1"/>
          <p:nvPr/>
        </p:nvSpPr>
        <p:spPr>
          <a:xfrm>
            <a:off x="274320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computed, nie watch</a:t>
            </a:r>
            <a:endParaRPr lang="en-US" sz="1500" dirty="0"/>
          </a:p>
        </p:txBody>
      </p:sp>
      <p:sp>
        <p:nvSpPr>
          <p:cNvPr id="12" name="Pozor 2 text"/>
          <p:cNvSpPr txBox="1"/>
          <p:nvPr/>
        </p:nvSpPr>
        <p:spPr>
          <a:xfrm>
            <a:off x="2743200" y="24231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Odvodené hodnoty patria do </a:t>
            </a:r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computed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, nie do </a:t>
            </a:r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, ktorý prepisuje iný </a:t>
            </a:r>
            <a:pPr indent="0" marL="0">
              <a:buNone/>
            </a:pPr>
            <a:r>
              <a:rPr lang="en-US" sz="12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.</a:t>
            </a:r>
            <a:endParaRPr lang="en-US" sz="1250" dirty="0"/>
          </a:p>
        </p:txBody>
      </p:sp>
      <p:sp>
        <p:nvSpPr>
          <p:cNvPr id="13" name="Pozor 3 karta"/>
          <p:cNvSpPr/>
          <p:nvPr/>
        </p:nvSpPr>
        <p:spPr>
          <a:xfrm>
            <a:off x="4663440" y="10515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4" name="Ťažšie ladenie kruh"/>
          <p:cNvSpPr/>
          <p:nvPr/>
        </p:nvSpPr>
        <p:spPr>
          <a:xfrm>
            <a:off x="4846320" y="12344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Ťažšie ladenie ikon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1360170"/>
            <a:ext cx="251460" cy="251460"/>
          </a:xfrm>
          <a:prstGeom prst="rect">
            <a:avLst/>
          </a:prstGeom>
        </p:spPr>
      </p:pic>
      <p:sp>
        <p:nvSpPr>
          <p:cNvPr id="16" name="Pozor 3"/>
          <p:cNvSpPr txBox="1"/>
          <p:nvPr/>
        </p:nvSpPr>
        <p:spPr>
          <a:xfrm>
            <a:off x="484632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Ťažšie ladenie</a:t>
            </a:r>
            <a:endParaRPr lang="en-US" sz="1500" dirty="0"/>
          </a:p>
        </p:txBody>
      </p:sp>
      <p:sp>
        <p:nvSpPr>
          <p:cNvPr id="17" name="Pozor 3 text"/>
          <p:cNvSpPr txBox="1"/>
          <p:nvPr/>
        </p:nvSpPr>
        <p:spPr>
          <a:xfrm>
            <a:off x="4846320" y="24231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Pri veľa jemných závislostiach je ťažšie zistiť, prečo sa niečo prepočítalo.</a:t>
            </a:r>
            <a:endParaRPr lang="en-US" sz="1250" dirty="0"/>
          </a:p>
        </p:txBody>
      </p:sp>
      <p:sp>
        <p:nvSpPr>
          <p:cNvPr id="18" name="Pozor 4 karta"/>
          <p:cNvSpPr/>
          <p:nvPr/>
        </p:nvSpPr>
        <p:spPr>
          <a:xfrm>
            <a:off x="6766560" y="1051560"/>
            <a:ext cx="1920240" cy="28346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9" name="Pamäť kruh"/>
          <p:cNvSpPr/>
          <p:nvPr/>
        </p:nvSpPr>
        <p:spPr>
          <a:xfrm>
            <a:off x="6949440" y="12344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Pamäť ikona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70" y="1360170"/>
            <a:ext cx="251460" cy="251460"/>
          </a:xfrm>
          <a:prstGeom prst="rect">
            <a:avLst/>
          </a:prstGeom>
        </p:spPr>
      </p:pic>
      <p:sp>
        <p:nvSpPr>
          <p:cNvPr id="21" name="Pozor 4"/>
          <p:cNvSpPr txBox="1"/>
          <p:nvPr/>
        </p:nvSpPr>
        <p:spPr>
          <a:xfrm>
            <a:off x="6949440" y="1874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Pamäť</a:t>
            </a:r>
            <a:endParaRPr lang="en-US" sz="1500" dirty="0"/>
          </a:p>
        </p:txBody>
      </p:sp>
      <p:sp>
        <p:nvSpPr>
          <p:cNvPr id="22" name="Pozor 4 text"/>
          <p:cNvSpPr txBox="1"/>
          <p:nvPr/>
        </p:nvSpPr>
        <p:spPr>
          <a:xfrm>
            <a:off x="6949440" y="242316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</a:rPr>
              <a:t>Každá väzba je malý objekt – pri obrovskom počte to niečo stojí.</a:t>
            </a:r>
            <a:endParaRPr lang="en-US" sz="1250" dirty="0"/>
          </a:p>
        </p:txBody>
      </p:sp>
      <p:sp>
        <p:nvSpPr>
          <p:cNvPr id="23" name="Pointa signály karta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6F6EF"/>
          </a:solidFill>
          <a:ln/>
        </p:spPr>
      </p:sp>
      <p:sp>
        <p:nvSpPr>
          <p:cNvPr id="24" name="Pointa signály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Signály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riešia, čo sa zmenilo a koho to zaujíma –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VDOM / Vapor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riešia, ako sa to dostane do DOM.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Časté chyby s reaktivitou</a:t>
            </a:r>
            <a:endParaRPr lang="en-US" sz="3000" dirty="0"/>
          </a:p>
        </p:txBody>
      </p:sp>
      <p:sp>
        <p:nvSpPr>
          <p:cNvPr id="3" name="Chyba 1 karta"/>
          <p:cNvSpPr/>
          <p:nvPr/>
        </p:nvSpPr>
        <p:spPr>
          <a:xfrm>
            <a:off x="45720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Chyba 1 číslo"/>
          <p:cNvSpPr/>
          <p:nvPr/>
        </p:nvSpPr>
        <p:spPr>
          <a:xfrm>
            <a:off x="594360" y="1115568"/>
            <a:ext cx="329184" cy="32918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5" name="Chyba 1 číslo text"/>
          <p:cNvSpPr txBox="1"/>
          <p:nvPr/>
        </p:nvSpPr>
        <p:spPr>
          <a:xfrm>
            <a:off x="59436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Chyba 1"/>
          <p:cNvSpPr txBox="1"/>
          <p:nvPr/>
        </p:nvSpPr>
        <p:spPr>
          <a:xfrm>
            <a:off x="1024128" y="11155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Zabudnuté .value v &lt;script&gt;</a:t>
            </a:r>
            <a:endParaRPr lang="en-US" sz="1400" dirty="0"/>
          </a:p>
        </p:txBody>
      </p:sp>
      <p:sp>
        <p:nvSpPr>
          <p:cNvPr id="7" name="Chyba 1 kód pozadie"/>
          <p:cNvSpPr/>
          <p:nvPr/>
        </p:nvSpPr>
        <p:spPr>
          <a:xfrm>
            <a:off x="594360" y="1572768"/>
            <a:ext cx="3749040" cy="941832"/>
          </a:xfrm>
          <a:prstGeom prst="roundRect">
            <a:avLst>
              <a:gd name="adj" fmla="val 5825"/>
            </a:avLst>
          </a:prstGeom>
          <a:solidFill>
            <a:srgbClr val="1E293B"/>
          </a:solidFill>
          <a:ln/>
        </p:spPr>
      </p:sp>
      <p:sp>
        <p:nvSpPr>
          <p:cNvPr id="8" name="Chyba 1 kód"/>
          <p:cNvSpPr txBox="1"/>
          <p:nvPr/>
        </p:nvSpPr>
        <p:spPr>
          <a:xfrm>
            <a:off x="594360" y="1572768"/>
            <a:ext cx="3749040" cy="941832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count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count++     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TypeError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count.value++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v šablóne bez .value</a:t>
            </a:r>
            <a:endParaRPr lang="en-US" sz="1100" dirty="0"/>
          </a:p>
        </p:txBody>
      </p:sp>
      <p:sp>
        <p:nvSpPr>
          <p:cNvPr id="9" name="Chyba 2 karta"/>
          <p:cNvSpPr/>
          <p:nvPr/>
        </p:nvSpPr>
        <p:spPr>
          <a:xfrm>
            <a:off x="4663440" y="10058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Chyba 2 číslo"/>
          <p:cNvSpPr/>
          <p:nvPr/>
        </p:nvSpPr>
        <p:spPr>
          <a:xfrm>
            <a:off x="4800600" y="1115568"/>
            <a:ext cx="329184" cy="32918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Chyba 2 číslo text"/>
          <p:cNvSpPr txBox="1"/>
          <p:nvPr/>
        </p:nvSpPr>
        <p:spPr>
          <a:xfrm>
            <a:off x="4800600" y="1115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Chyba 2"/>
          <p:cNvSpPr txBox="1"/>
          <p:nvPr/>
        </p:nvSpPr>
        <p:spPr>
          <a:xfrm>
            <a:off x="5230368" y="11155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Deštrukturalizácia reactive()</a:t>
            </a:r>
            <a:endParaRPr lang="en-US" sz="1400" dirty="0"/>
          </a:p>
        </p:txBody>
      </p:sp>
      <p:sp>
        <p:nvSpPr>
          <p:cNvPr id="13" name="Chyba 2 kód pozadie"/>
          <p:cNvSpPr/>
          <p:nvPr/>
        </p:nvSpPr>
        <p:spPr>
          <a:xfrm>
            <a:off x="4800600" y="1572768"/>
            <a:ext cx="3749040" cy="941832"/>
          </a:xfrm>
          <a:prstGeom prst="roundRect">
            <a:avLst>
              <a:gd name="adj" fmla="val 5825"/>
            </a:avLst>
          </a:prstGeom>
          <a:solidFill>
            <a:srgbClr val="1E293B"/>
          </a:solidFill>
          <a:ln/>
        </p:spPr>
      </p:sp>
      <p:sp>
        <p:nvSpPr>
          <p:cNvPr id="14" name="Chyba 2 kód"/>
          <p:cNvSpPr txBox="1"/>
          <p:nvPr/>
        </p:nvSpPr>
        <p:spPr>
          <a:xfrm>
            <a:off x="4800600" y="1572768"/>
            <a:ext cx="3749040" cy="941832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state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count: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count } = state        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kópia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count }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toRefs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(state)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</a:t>
            </a:r>
            <a:endParaRPr lang="en-US" sz="1100" dirty="0"/>
          </a:p>
        </p:txBody>
      </p:sp>
      <p:sp>
        <p:nvSpPr>
          <p:cNvPr id="15" name="Chyba 3 karta"/>
          <p:cNvSpPr/>
          <p:nvPr/>
        </p:nvSpPr>
        <p:spPr>
          <a:xfrm>
            <a:off x="457200" y="27889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Chyba 3 číslo"/>
          <p:cNvSpPr/>
          <p:nvPr/>
        </p:nvSpPr>
        <p:spPr>
          <a:xfrm>
            <a:off x="594360" y="2898648"/>
            <a:ext cx="329184" cy="32918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Chyba 3 číslo text"/>
          <p:cNvSpPr txBox="1"/>
          <p:nvPr/>
        </p:nvSpPr>
        <p:spPr>
          <a:xfrm>
            <a:off x="59436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Chyba 3"/>
          <p:cNvSpPr txBox="1"/>
          <p:nvPr/>
        </p:nvSpPr>
        <p:spPr>
          <a:xfrm>
            <a:off x="1024128" y="289864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Prepísanie reactive() objektu</a:t>
            </a:r>
            <a:endParaRPr lang="en-US" sz="1400" dirty="0"/>
          </a:p>
        </p:txBody>
      </p:sp>
      <p:sp>
        <p:nvSpPr>
          <p:cNvPr id="19" name="Chyba 3 kód pozadie"/>
          <p:cNvSpPr/>
          <p:nvPr/>
        </p:nvSpPr>
        <p:spPr>
          <a:xfrm>
            <a:off x="594360" y="3355848"/>
            <a:ext cx="3749040" cy="941832"/>
          </a:xfrm>
          <a:prstGeom prst="roundRect">
            <a:avLst>
              <a:gd name="adj" fmla="val 5825"/>
            </a:avLst>
          </a:prstGeom>
          <a:solidFill>
            <a:srgbClr val="1E293B"/>
          </a:solidFill>
          <a:ln/>
        </p:spPr>
      </p:sp>
      <p:sp>
        <p:nvSpPr>
          <p:cNvPr id="20" name="Chyba 3 kód"/>
          <p:cNvSpPr txBox="1"/>
          <p:nvPr/>
        </p:nvSpPr>
        <p:spPr>
          <a:xfrm>
            <a:off x="594360" y="3355848"/>
            <a:ext cx="3749040" cy="941832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reactive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name: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'Anna'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{ name: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'Eva'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bez reaktivity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Object.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(user, { name: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'Eva'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})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</a:t>
            </a:r>
            <a:endParaRPr lang="en-US" sz="1100" dirty="0"/>
          </a:p>
        </p:txBody>
      </p:sp>
      <p:sp>
        <p:nvSpPr>
          <p:cNvPr id="21" name="Chyba 4 karta"/>
          <p:cNvSpPr/>
          <p:nvPr/>
        </p:nvSpPr>
        <p:spPr>
          <a:xfrm>
            <a:off x="4663440" y="27889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Chyba 4 číslo"/>
          <p:cNvSpPr/>
          <p:nvPr/>
        </p:nvSpPr>
        <p:spPr>
          <a:xfrm>
            <a:off x="4800600" y="2898648"/>
            <a:ext cx="329184" cy="329184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23" name="Chyba 4 číslo text"/>
          <p:cNvSpPr txBox="1"/>
          <p:nvPr/>
        </p:nvSpPr>
        <p:spPr>
          <a:xfrm>
            <a:off x="480060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Chyba 4"/>
          <p:cNvSpPr txBox="1"/>
          <p:nvPr/>
        </p:nvSpPr>
        <p:spPr>
          <a:xfrm>
            <a:off x="5230368" y="289864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Zmena props v dieťati</a:t>
            </a:r>
            <a:endParaRPr lang="en-US" sz="1400" dirty="0"/>
          </a:p>
        </p:txBody>
      </p:sp>
      <p:sp>
        <p:nvSpPr>
          <p:cNvPr id="25" name="Chyba 4 kód pozadie"/>
          <p:cNvSpPr/>
          <p:nvPr/>
        </p:nvSpPr>
        <p:spPr>
          <a:xfrm>
            <a:off x="4800600" y="3355848"/>
            <a:ext cx="3749040" cy="941832"/>
          </a:xfrm>
          <a:prstGeom prst="roundRect">
            <a:avLst>
              <a:gd name="adj" fmla="val 5825"/>
            </a:avLst>
          </a:prstGeom>
          <a:solidFill>
            <a:srgbClr val="1E293B"/>
          </a:solidFill>
          <a:ln/>
        </p:spPr>
      </p:sp>
      <p:sp>
        <p:nvSpPr>
          <p:cNvPr id="26" name="Chyba 4 kód"/>
          <p:cNvSpPr txBox="1"/>
          <p:nvPr/>
        </p:nvSpPr>
        <p:spPr>
          <a:xfrm>
            <a:off x="4800600" y="3355848"/>
            <a:ext cx="3749040" cy="941832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props.title =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'Nový'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❌ read-only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'rename'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'Nový'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zmení rodič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Komunikácia komponentov</a:t>
            </a:r>
            <a:endParaRPr lang="en-US" sz="3000" dirty="0"/>
          </a:p>
        </p:txBody>
      </p:sp>
      <p:sp>
        <p:nvSpPr>
          <p:cNvPr id="3" name="Rodič"/>
          <p:cNvSpPr/>
          <p:nvPr/>
        </p:nvSpPr>
        <p:spPr>
          <a:xfrm>
            <a:off x="457200" y="109728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35495E"/>
          </a:solidFill>
          <a:ln/>
        </p:spPr>
      </p:sp>
      <p:sp>
        <p:nvSpPr>
          <p:cNvPr id="4" name="Rodič text"/>
          <p:cNvSpPr txBox="1"/>
          <p:nvPr/>
        </p:nvSpPr>
        <p:spPr>
          <a:xfrm>
            <a:off x="457200" y="10972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Rodič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App.vue</a:t>
            </a:r>
            <a:endParaRPr lang="en-US" sz="1500" dirty="0"/>
          </a:p>
        </p:txBody>
      </p:sp>
      <p:sp>
        <p:nvSpPr>
          <p:cNvPr id="5" name="Dieťa"/>
          <p:cNvSpPr/>
          <p:nvPr/>
        </p:nvSpPr>
        <p:spPr>
          <a:xfrm>
            <a:off x="457200" y="370332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42B883"/>
          </a:solidFill>
          <a:ln/>
        </p:spPr>
      </p:sp>
      <p:sp>
        <p:nvSpPr>
          <p:cNvPr id="6" name="Dieťa text"/>
          <p:cNvSpPr txBox="1"/>
          <p:nvPr/>
        </p:nvSpPr>
        <p:spPr>
          <a:xfrm>
            <a:off x="45720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Dieťa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ProfileCard.vue</a:t>
            </a:r>
            <a:endParaRPr lang="en-US" sz="1500" dirty="0"/>
          </a:p>
        </p:txBody>
      </p:sp>
      <p:sp>
        <p:nvSpPr>
          <p:cNvPr id="7" name="Šípka props"/>
          <p:cNvSpPr/>
          <p:nvPr/>
        </p:nvSpPr>
        <p:spPr>
          <a:xfrm>
            <a:off x="1143000" y="1783080"/>
            <a:ext cx="0" cy="1874520"/>
          </a:xfrm>
          <a:prstGeom prst="line">
            <a:avLst/>
          </a:prstGeom>
          <a:noFill/>
          <a:ln w="31750">
            <a:solidFill>
              <a:srgbClr val="35495E"/>
            </a:solidFill>
            <a:prstDash val="solid"/>
            <a:tailEnd type="triangle"/>
          </a:ln>
        </p:spPr>
      </p:sp>
      <p:sp>
        <p:nvSpPr>
          <p:cNvPr id="8" name="Šípka emits"/>
          <p:cNvSpPr/>
          <p:nvPr/>
        </p:nvSpPr>
        <p:spPr>
          <a:xfrm>
            <a:off x="3337560" y="1783080"/>
            <a:ext cx="0" cy="1874520"/>
          </a:xfrm>
          <a:prstGeom prst="line">
            <a:avLst/>
          </a:prstGeom>
          <a:noFill/>
          <a:ln w="31750">
            <a:solidFill>
              <a:srgbClr val="42B883"/>
            </a:solidFill>
            <a:prstDash val="solid"/>
            <a:headEnd type="triangle"/>
          </a:ln>
        </p:spPr>
      </p:sp>
      <p:sp>
        <p:nvSpPr>
          <p:cNvPr id="9" name="Props popis"/>
          <p:cNvSpPr txBox="1"/>
          <p:nvPr/>
        </p:nvSpPr>
        <p:spPr>
          <a:xfrm>
            <a:off x="1280160" y="2331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props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dáta dole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:name="…"</a:t>
            </a:r>
            <a:endParaRPr lang="en-US" sz="1400" dirty="0"/>
          </a:p>
        </p:txBody>
      </p:sp>
      <p:sp>
        <p:nvSpPr>
          <p:cNvPr id="10" name="Emits popis"/>
          <p:cNvSpPr txBox="1"/>
          <p:nvPr/>
        </p:nvSpPr>
        <p:spPr>
          <a:xfrm>
            <a:off x="2194560" y="23317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emits</a:t>
            </a:r>
            <a:endParaRPr lang="en-US" sz="1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udalosti hore</a:t>
            </a:r>
            <a:endParaRPr lang="en-US" sz="14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@edit="…"</a:t>
            </a:r>
            <a:endParaRPr lang="en-US" sz="1400" dirty="0"/>
          </a:p>
        </p:txBody>
      </p:sp>
      <p:sp>
        <p:nvSpPr>
          <p:cNvPr id="11" name="Komunikácia kód pozadie"/>
          <p:cNvSpPr/>
          <p:nvPr/>
        </p:nvSpPr>
        <p:spPr>
          <a:xfrm>
            <a:off x="4251960" y="1051560"/>
            <a:ext cx="4434840" cy="3429000"/>
          </a:xfrm>
          <a:prstGeom prst="roundRect">
            <a:avLst>
              <a:gd name="adj" fmla="val 1600"/>
            </a:avLst>
          </a:prstGeom>
          <a:solidFill>
            <a:srgbClr val="1E293B"/>
          </a:solidFill>
          <a:ln/>
        </p:spPr>
      </p:sp>
      <p:sp>
        <p:nvSpPr>
          <p:cNvPr id="12" name="Komunikácia kód hlavička"/>
          <p:cNvSpPr/>
          <p:nvPr/>
        </p:nvSpPr>
        <p:spPr>
          <a:xfrm>
            <a:off x="4251960" y="1051560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13" name="Komunikácia kód hlavička spoj"/>
          <p:cNvSpPr/>
          <p:nvPr/>
        </p:nvSpPr>
        <p:spPr>
          <a:xfrm>
            <a:off x="4251960" y="1289304"/>
            <a:ext cx="443484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Komunikácia kód bodka 1"/>
          <p:cNvSpPr/>
          <p:nvPr/>
        </p:nvSpPr>
        <p:spPr>
          <a:xfrm>
            <a:off x="4361688" y="11338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5" name="Komunikácia kód bodka 2"/>
          <p:cNvSpPr/>
          <p:nvPr/>
        </p:nvSpPr>
        <p:spPr>
          <a:xfrm>
            <a:off x="4507992" y="11338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6" name="Komunikácia kód bodka 3"/>
          <p:cNvSpPr/>
          <p:nvPr/>
        </p:nvSpPr>
        <p:spPr>
          <a:xfrm>
            <a:off x="4654296" y="11338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7" name="Komunikácia kód názov"/>
          <p:cNvSpPr txBox="1"/>
          <p:nvPr/>
        </p:nvSpPr>
        <p:spPr>
          <a:xfrm>
            <a:off x="4818888" y="105156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ProfileCard.vue – &lt;script setup&gt;</a:t>
            </a:r>
            <a:endParaRPr lang="en-US" sz="900" dirty="0"/>
          </a:p>
        </p:txBody>
      </p:sp>
      <p:sp>
        <p:nvSpPr>
          <p:cNvPr id="18" name="Komunikácia kód"/>
          <p:cNvSpPr txBox="1"/>
          <p:nvPr/>
        </p:nvSpPr>
        <p:spPr>
          <a:xfrm>
            <a:off x="4251960" y="1307592"/>
            <a:ext cx="4434840" cy="31729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Props – dáta od rodiča (read-only)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3.5: deštrukturalizácia s default hodnotou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name, age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defineProps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'name'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'age'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Emits – udalosti pre rodiča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emit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defineEmits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'edit'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'edit'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id)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v-model na vlastnom komponente (3.4)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rodič: &lt;MyInput v-model="text" /&gt;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model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defineModel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Prístup k DOM elementu (3.5)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 = 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useTemplateRef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'input'</a:t>
            </a:r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Životný cyklus komponentu</a:t>
            </a:r>
            <a:endParaRPr lang="en-US" sz="3000" dirty="0"/>
          </a:p>
        </p:txBody>
      </p:sp>
      <p:pic>
        <p:nvPicPr>
          <p:cNvPr id="3" name="Životný cyklus diagram" descr="C:\Users\matisak\AppData\Local\Temp\claude\C--Users-matisak-projekty-vue-prednaska\1d36b638-3e33-40b1-abc4-ada18f9170e7\scratchpad\gen\img\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24128"/>
            <a:ext cx="5577840" cy="2963227"/>
          </a:xfrm>
          <a:prstGeom prst="rect">
            <a:avLst/>
          </a:prstGeom>
        </p:spPr>
      </p:pic>
      <p:sp>
        <p:nvSpPr>
          <p:cNvPr id="4" name="Zdroj obrázka"/>
          <p:cNvSpPr txBox="1"/>
          <p:nvPr/>
        </p:nvSpPr>
        <p:spPr>
          <a:xfrm>
            <a:off x="457200" y="40690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Zdroj obrázka: learnvue.co</a:t>
            </a:r>
            <a:endParaRPr lang="en-US" sz="950" dirty="0"/>
          </a:p>
        </p:txBody>
      </p:sp>
      <p:sp>
        <p:nvSpPr>
          <p:cNvPr id="5" name="Hooky karta"/>
          <p:cNvSpPr/>
          <p:nvPr/>
        </p:nvSpPr>
        <p:spPr>
          <a:xfrm>
            <a:off x="6263640" y="1024128"/>
            <a:ext cx="2423160" cy="297180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6" name="Hooky"/>
          <p:cNvSpPr txBox="1"/>
          <p:nvPr/>
        </p:nvSpPr>
        <p:spPr>
          <a:xfrm>
            <a:off x="6428232" y="1161288"/>
            <a:ext cx="2148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293B"/>
                </a:solidFill>
              </a:rPr>
              <a:t>Najčastejšie hooky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onMounted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komponent je v DOM (fetch, práca s DOM)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onUpdated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po prekreslení</a:t>
            </a:r>
            <a:endParaRPr lang="en-US" sz="140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onUnmounted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E293B"/>
                </a:solidFill>
              </a:rPr>
              <a:t>upratovanie (timery, listenery)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42B883"/>
                </a:solidFill>
              </a:rPr>
              <a:t>04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Ekosystém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knižnice · nástroje · meta-frameworky · TypeScript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Ekosystém Vue</a:t>
            </a:r>
            <a:endParaRPr lang="en-US" sz="3000" dirty="0"/>
          </a:p>
        </p:txBody>
      </p:sp>
      <p:sp>
        <p:nvSpPr>
          <p:cNvPr id="3" name="Pinia karta"/>
          <p:cNvSpPr/>
          <p:nvPr/>
        </p:nvSpPr>
        <p:spPr>
          <a:xfrm>
            <a:off x="457200" y="100584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4" name="Pinia rámik"/>
          <p:cNvSpPr/>
          <p:nvPr/>
        </p:nvSpPr>
        <p:spPr>
          <a:xfrm>
            <a:off x="457200" y="1005840"/>
            <a:ext cx="1920240" cy="1920240"/>
          </a:xfrm>
          <a:prstGeom prst="roundRect">
            <a:avLst>
              <a:gd name="adj" fmla="val 3810"/>
            </a:avLst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5" name="Pinia logo" descr="C:\Users\matisak\AppData\Local\Temp\claude\C--Users-matisak-projekty-vue-prednaska\1d36b638-3e33-40b1-abc4-ada18f9170e7\scratchpad\gen\img\pin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562" y="1115568"/>
            <a:ext cx="611517" cy="914400"/>
          </a:xfrm>
          <a:prstGeom prst="rect">
            <a:avLst/>
          </a:prstGeom>
        </p:spPr>
      </p:pic>
      <p:sp>
        <p:nvSpPr>
          <p:cNvPr id="6" name="Pinia"/>
          <p:cNvSpPr txBox="1"/>
          <p:nvPr/>
        </p:nvSpPr>
        <p:spPr>
          <a:xfrm>
            <a:off x="54864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Pinia</a:t>
            </a:r>
            <a:endParaRPr lang="en-US" sz="1350" dirty="0"/>
          </a:p>
        </p:txBody>
      </p:sp>
      <p:sp>
        <p:nvSpPr>
          <p:cNvPr id="7" name="Pinia popis"/>
          <p:cNvSpPr txBox="1"/>
          <p:nvPr/>
        </p:nvSpPr>
        <p:spPr>
          <a:xfrm>
            <a:off x="54864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správa stavu (nahradila Vuex)</a:t>
            </a:r>
            <a:endParaRPr lang="en-US" sz="1100" dirty="0"/>
          </a:p>
        </p:txBody>
      </p:sp>
      <p:sp>
        <p:nvSpPr>
          <p:cNvPr id="8" name="Vue Router karta"/>
          <p:cNvSpPr/>
          <p:nvPr/>
        </p:nvSpPr>
        <p:spPr>
          <a:xfrm>
            <a:off x="2560320" y="100584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9" name="Vue Router rámik"/>
          <p:cNvSpPr/>
          <p:nvPr/>
        </p:nvSpPr>
        <p:spPr>
          <a:xfrm>
            <a:off x="2560320" y="1005840"/>
            <a:ext cx="1920240" cy="1920240"/>
          </a:xfrm>
          <a:prstGeom prst="roundRect">
            <a:avLst>
              <a:gd name="adj" fmla="val 3810"/>
            </a:avLst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0" name="Vue Router logo" descr="C:\Users\matisak\AppData\Local\Temp\claude\C--Users-matisak-projekty-vue-prednaska\1d36b638-3e33-40b1-abc4-ada18f9170e7\scratchpad\gen\img\router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418" y="1115568"/>
            <a:ext cx="1380044" cy="914400"/>
          </a:xfrm>
          <a:prstGeom prst="rect">
            <a:avLst/>
          </a:prstGeom>
        </p:spPr>
      </p:pic>
      <p:sp>
        <p:nvSpPr>
          <p:cNvPr id="11" name="Vue Router"/>
          <p:cNvSpPr txBox="1"/>
          <p:nvPr/>
        </p:nvSpPr>
        <p:spPr>
          <a:xfrm>
            <a:off x="2651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Vue Router</a:t>
            </a:r>
            <a:endParaRPr lang="en-US" sz="1350" dirty="0"/>
          </a:p>
        </p:txBody>
      </p:sp>
      <p:sp>
        <p:nvSpPr>
          <p:cNvPr id="12" name="Vue Router popis"/>
          <p:cNvSpPr txBox="1"/>
          <p:nvPr/>
        </p:nvSpPr>
        <p:spPr>
          <a:xfrm>
            <a:off x="265176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navigácia a URL</a:t>
            </a:r>
            <a:endParaRPr lang="en-US" sz="1100" dirty="0"/>
          </a:p>
        </p:txBody>
      </p:sp>
      <p:sp>
        <p:nvSpPr>
          <p:cNvPr id="13" name="ESLint karta"/>
          <p:cNvSpPr/>
          <p:nvPr/>
        </p:nvSpPr>
        <p:spPr>
          <a:xfrm>
            <a:off x="4663440" y="100584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14" name="ESLint rámik"/>
          <p:cNvSpPr/>
          <p:nvPr/>
        </p:nvSpPr>
        <p:spPr>
          <a:xfrm>
            <a:off x="4663440" y="1005840"/>
            <a:ext cx="1920240" cy="1920240"/>
          </a:xfrm>
          <a:prstGeom prst="roundRect">
            <a:avLst>
              <a:gd name="adj" fmla="val 3810"/>
            </a:avLst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15" name="ESLint logo" descr="C:\Users\matisak\AppData\Local\Temp\claude\C--Users-matisak-projekty-vue-prednaska\1d36b638-3e33-40b1-abc4-ada18f9170e7\scratchpad\gen\img\esl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248408"/>
            <a:ext cx="1554480" cy="648720"/>
          </a:xfrm>
          <a:prstGeom prst="rect">
            <a:avLst/>
          </a:prstGeom>
        </p:spPr>
      </p:pic>
      <p:sp>
        <p:nvSpPr>
          <p:cNvPr id="16" name="ESLint"/>
          <p:cNvSpPr txBox="1"/>
          <p:nvPr/>
        </p:nvSpPr>
        <p:spPr>
          <a:xfrm>
            <a:off x="475488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ESLint</a:t>
            </a:r>
            <a:endParaRPr lang="en-US" sz="1350" dirty="0"/>
          </a:p>
        </p:txBody>
      </p:sp>
      <p:sp>
        <p:nvSpPr>
          <p:cNvPr id="17" name="ESLint popis"/>
          <p:cNvSpPr txBox="1"/>
          <p:nvPr/>
        </p:nvSpPr>
        <p:spPr>
          <a:xfrm>
            <a:off x="475488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kontrola kódu</a:t>
            </a:r>
            <a:endParaRPr lang="en-US" sz="1100" dirty="0"/>
          </a:p>
        </p:txBody>
      </p:sp>
      <p:sp>
        <p:nvSpPr>
          <p:cNvPr id="18" name="Vuetify / PrimeVue karta"/>
          <p:cNvSpPr/>
          <p:nvPr/>
        </p:nvSpPr>
        <p:spPr>
          <a:xfrm>
            <a:off x="6766560" y="1005840"/>
            <a:ext cx="1920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</p:sp>
      <p:sp>
        <p:nvSpPr>
          <p:cNvPr id="19" name="Vuetify / PrimeVue rámik"/>
          <p:cNvSpPr/>
          <p:nvPr/>
        </p:nvSpPr>
        <p:spPr>
          <a:xfrm>
            <a:off x="6766560" y="1005840"/>
            <a:ext cx="1920240" cy="1920240"/>
          </a:xfrm>
          <a:prstGeom prst="roundRect">
            <a:avLst>
              <a:gd name="adj" fmla="val 3810"/>
            </a:avLst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20" name="Vuetify / PrimeVue logo" descr="C:\Users\matisak\AppData\Local\Temp\claude\C--Users-matisak-projekty-vue-prednaska\1d36b638-3e33-40b1-abc4-ada18f9170e7\scratchpad\gen\img\vuet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115568"/>
            <a:ext cx="914400" cy="914400"/>
          </a:xfrm>
          <a:prstGeom prst="rect">
            <a:avLst/>
          </a:prstGeom>
        </p:spPr>
      </p:pic>
      <p:sp>
        <p:nvSpPr>
          <p:cNvPr id="21" name="Vuetify / PrimeVue"/>
          <p:cNvSpPr txBox="1"/>
          <p:nvPr/>
        </p:nvSpPr>
        <p:spPr>
          <a:xfrm>
            <a:off x="68580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Vuetify / PrimeVue</a:t>
            </a:r>
            <a:endParaRPr lang="en-US" sz="1350" dirty="0"/>
          </a:p>
        </p:txBody>
      </p:sp>
      <p:sp>
        <p:nvSpPr>
          <p:cNvPr id="22" name="Vuetify / PrimeVue popis"/>
          <p:cNvSpPr txBox="1"/>
          <p:nvPr/>
        </p:nvSpPr>
        <p:spPr>
          <a:xfrm>
            <a:off x="6858000" y="2423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knižnice UI komponentov</a:t>
            </a:r>
            <a:endParaRPr lang="en-US" sz="1100" dirty="0"/>
          </a:p>
        </p:txBody>
      </p:sp>
      <p:sp>
        <p:nvSpPr>
          <p:cNvPr id="23" name="Vue DevTools kruh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24" name="Vue DevTools ikon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4700"/>
            <a:ext cx="228600" cy="228600"/>
          </a:xfrm>
          <a:prstGeom prst="rect">
            <a:avLst/>
          </a:prstGeom>
        </p:spPr>
      </p:pic>
      <p:sp>
        <p:nvSpPr>
          <p:cNvPr id="25" name="Vue DevTools text"/>
          <p:cNvSpPr txBox="1"/>
          <p:nvPr/>
        </p:nvSpPr>
        <p:spPr>
          <a:xfrm>
            <a:off x="1024128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Vue DevTools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strom komponentov, stav, props – v prehliadači aj ako Vite plugin</a:t>
            </a:r>
            <a:endParaRPr lang="en-US" sz="1350" dirty="0"/>
          </a:p>
        </p:txBody>
      </p:sp>
      <p:sp>
        <p:nvSpPr>
          <p:cNvPr id="26" name="VS Code + Vue – Official kruh"/>
          <p:cNvSpPr/>
          <p:nvPr/>
        </p:nvSpPr>
        <p:spPr>
          <a:xfrm>
            <a:off x="3246120" y="3200400"/>
            <a:ext cx="457200" cy="457200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27" name="VS Code + Vue – Official ikona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0420" y="3314700"/>
            <a:ext cx="228600" cy="228600"/>
          </a:xfrm>
          <a:prstGeom prst="rect">
            <a:avLst/>
          </a:prstGeom>
        </p:spPr>
      </p:pic>
      <p:sp>
        <p:nvSpPr>
          <p:cNvPr id="28" name="VS Code + Vue – Official text"/>
          <p:cNvSpPr txBox="1"/>
          <p:nvPr/>
        </p:nvSpPr>
        <p:spPr>
          <a:xfrm>
            <a:off x="3813048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VS Code + Vue – Official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zvýrazňovanie, doplňovanie, TypeScript (predtým Volar)</a:t>
            </a:r>
            <a:endParaRPr lang="en-US" sz="1350" dirty="0"/>
          </a:p>
        </p:txBody>
      </p:sp>
      <p:sp>
        <p:nvSpPr>
          <p:cNvPr id="29" name="Vitest kruh"/>
          <p:cNvSpPr/>
          <p:nvPr/>
        </p:nvSpPr>
        <p:spPr>
          <a:xfrm>
            <a:off x="6035040" y="3200400"/>
            <a:ext cx="457200" cy="457200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30" name="Vitest ikona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314700"/>
            <a:ext cx="228600" cy="228600"/>
          </a:xfrm>
          <a:prstGeom prst="rect">
            <a:avLst/>
          </a:prstGeom>
        </p:spPr>
      </p:pic>
      <p:sp>
        <p:nvSpPr>
          <p:cNvPr id="31" name="Vitest text"/>
          <p:cNvSpPr txBox="1"/>
          <p:nvPr/>
        </p:nvSpPr>
        <p:spPr>
          <a:xfrm>
            <a:off x="6601968" y="31546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Vitest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unit testy; Prettier na formátovanie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Meta-frameworky a TypeScript</a:t>
            </a:r>
            <a:endParaRPr lang="en-US" sz="3000" dirty="0"/>
          </a:p>
        </p:txBody>
      </p:sp>
      <p:sp>
        <p:nvSpPr>
          <p:cNvPr id="3" name="Meta definícia"/>
          <p:cNvSpPr txBox="1"/>
          <p:nvPr/>
        </p:nvSpPr>
        <p:spPr>
          <a:xfrm>
            <a:off x="457200" y="10241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Meta-framework</a:t>
            </a:r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 = nadstavba frameworku: routing podľa súborov, SSR/SSG, API, build.</a:t>
            </a:r>
            <a:endParaRPr lang="en-US" sz="1450" dirty="0"/>
          </a:p>
        </p:txBody>
      </p:sp>
      <p:sp>
        <p:nvSpPr>
          <p:cNvPr id="4" name="Nuxt čip"/>
          <p:cNvSpPr/>
          <p:nvPr/>
        </p:nvSpPr>
        <p:spPr>
          <a:xfrm>
            <a:off x="457200" y="18288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5" name="Nuxt bodka"/>
          <p:cNvSpPr/>
          <p:nvPr/>
        </p:nvSpPr>
        <p:spPr>
          <a:xfrm>
            <a:off x="594360" y="1975104"/>
            <a:ext cx="146304" cy="14630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6" name="Nuxt čip text"/>
          <p:cNvSpPr txBox="1"/>
          <p:nvPr/>
        </p:nvSpPr>
        <p:spPr>
          <a:xfrm>
            <a:off x="841248" y="18288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Nuxt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  Vue</a:t>
            </a:r>
            <a:endParaRPr lang="en-US" sz="1350" dirty="0"/>
          </a:p>
        </p:txBody>
      </p:sp>
      <p:sp>
        <p:nvSpPr>
          <p:cNvPr id="7" name="Next.js čip"/>
          <p:cNvSpPr/>
          <p:nvPr/>
        </p:nvSpPr>
        <p:spPr>
          <a:xfrm>
            <a:off x="2606040" y="18288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8" name="Next.js bodka"/>
          <p:cNvSpPr/>
          <p:nvPr/>
        </p:nvSpPr>
        <p:spPr>
          <a:xfrm>
            <a:off x="2743200" y="1975104"/>
            <a:ext cx="146304" cy="146304"/>
          </a:xfrm>
          <a:prstGeom prst="ellipse">
            <a:avLst/>
          </a:prstGeom>
          <a:solidFill>
            <a:srgbClr val="149ECA"/>
          </a:solidFill>
          <a:ln/>
        </p:spPr>
      </p:sp>
      <p:sp>
        <p:nvSpPr>
          <p:cNvPr id="9" name="Next.js čip text"/>
          <p:cNvSpPr txBox="1"/>
          <p:nvPr/>
        </p:nvSpPr>
        <p:spPr>
          <a:xfrm>
            <a:off x="2990088" y="182880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Next.js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  React</a:t>
            </a:r>
            <a:endParaRPr lang="en-US" sz="1350" dirty="0"/>
          </a:p>
        </p:txBody>
      </p:sp>
      <p:sp>
        <p:nvSpPr>
          <p:cNvPr id="10" name="SvelteKit čip"/>
          <p:cNvSpPr/>
          <p:nvPr/>
        </p:nvSpPr>
        <p:spPr>
          <a:xfrm>
            <a:off x="457200" y="237744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1" name="SvelteKit bodka"/>
          <p:cNvSpPr/>
          <p:nvPr/>
        </p:nvSpPr>
        <p:spPr>
          <a:xfrm>
            <a:off x="594360" y="2523744"/>
            <a:ext cx="146304" cy="146304"/>
          </a:xfrm>
          <a:prstGeom prst="ellipse">
            <a:avLst/>
          </a:prstGeom>
          <a:solidFill>
            <a:srgbClr val="FF3E00"/>
          </a:solidFill>
          <a:ln/>
        </p:spPr>
      </p:sp>
      <p:sp>
        <p:nvSpPr>
          <p:cNvPr id="12" name="SvelteKit čip text"/>
          <p:cNvSpPr txBox="1"/>
          <p:nvPr/>
        </p:nvSpPr>
        <p:spPr>
          <a:xfrm>
            <a:off x="841248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SvelteKit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  Svelte</a:t>
            </a:r>
            <a:endParaRPr lang="en-US" sz="1350" dirty="0"/>
          </a:p>
        </p:txBody>
      </p:sp>
      <p:sp>
        <p:nvSpPr>
          <p:cNvPr id="13" name="Analog čip"/>
          <p:cNvSpPr/>
          <p:nvPr/>
        </p:nvSpPr>
        <p:spPr>
          <a:xfrm>
            <a:off x="2606040" y="237744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4" name="Analog bodka"/>
          <p:cNvSpPr/>
          <p:nvPr/>
        </p:nvSpPr>
        <p:spPr>
          <a:xfrm>
            <a:off x="2743200" y="2523744"/>
            <a:ext cx="146304" cy="146304"/>
          </a:xfrm>
          <a:prstGeom prst="ellipse">
            <a:avLst/>
          </a:prstGeom>
          <a:solidFill>
            <a:srgbClr val="C3002F"/>
          </a:solidFill>
          <a:ln/>
        </p:spPr>
      </p:sp>
      <p:sp>
        <p:nvSpPr>
          <p:cNvPr id="15" name="Analog čip text"/>
          <p:cNvSpPr txBox="1"/>
          <p:nvPr/>
        </p:nvSpPr>
        <p:spPr>
          <a:xfrm>
            <a:off x="2990088" y="237744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</a:rPr>
              <a:t>Analog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  Angular</a:t>
            </a:r>
            <a:endParaRPr lang="en-US" sz="1350" dirty="0"/>
          </a:p>
        </p:txBody>
      </p:sp>
      <p:sp>
        <p:nvSpPr>
          <p:cNvPr id="16" name="SSR kruh"/>
          <p:cNvSpPr/>
          <p:nvPr/>
        </p:nvSpPr>
        <p:spPr>
          <a:xfrm>
            <a:off x="457200" y="3063240"/>
            <a:ext cx="420624" cy="420624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17" name="SSR ikon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3168396"/>
            <a:ext cx="210312" cy="210312"/>
          </a:xfrm>
          <a:prstGeom prst="rect">
            <a:avLst/>
          </a:prstGeom>
        </p:spPr>
      </p:pic>
      <p:sp>
        <p:nvSpPr>
          <p:cNvPr id="18" name="SSR text"/>
          <p:cNvSpPr txBox="1"/>
          <p:nvPr/>
        </p:nvSpPr>
        <p:spPr>
          <a:xfrm>
            <a:off x="1005840" y="3017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SSR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– HTML sa generuje na serveri → rýchlejšie prvé zobrazenie, lepšie SEO.</a:t>
            </a:r>
            <a:endParaRPr lang="en-US" sz="1300" dirty="0"/>
          </a:p>
        </p:txBody>
      </p:sp>
      <p:sp>
        <p:nvSpPr>
          <p:cNvPr id="19" name="TypeScript kruh"/>
          <p:cNvSpPr/>
          <p:nvPr/>
        </p:nvSpPr>
        <p:spPr>
          <a:xfrm>
            <a:off x="457200" y="3749040"/>
            <a:ext cx="420624" cy="420624"/>
          </a:xfrm>
          <a:prstGeom prst="ellipse">
            <a:avLst/>
          </a:prstGeom>
          <a:solidFill>
            <a:srgbClr val="35495E"/>
          </a:solidFill>
          <a:ln/>
        </p:spPr>
      </p:sp>
      <p:pic>
        <p:nvPicPr>
          <p:cNvPr id="20" name="TypeScript ikon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3854196"/>
            <a:ext cx="210312" cy="210312"/>
          </a:xfrm>
          <a:prstGeom prst="rect">
            <a:avLst/>
          </a:prstGeom>
        </p:spPr>
      </p:pic>
      <p:sp>
        <p:nvSpPr>
          <p:cNvPr id="21" name="TS text"/>
          <p:cNvSpPr txBox="1"/>
          <p:nvPr/>
        </p:nvSpPr>
        <p:spPr>
          <a:xfrm>
            <a:off x="100584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TypeScript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 je v praxi štandard – Vue ho podporuje priamo: </a:t>
            </a:r>
            <a:pPr indent="0" marL="0">
              <a:buNone/>
            </a:pPr>
            <a:r>
              <a:rPr lang="en-US" sz="130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lang="ts"</a:t>
            </a:r>
            <a:endParaRPr lang="en-US" sz="1300" dirty="0"/>
          </a:p>
        </p:txBody>
      </p:sp>
      <p:sp>
        <p:nvSpPr>
          <p:cNvPr id="22" name="TS kód pozadie"/>
          <p:cNvSpPr/>
          <p:nvPr/>
        </p:nvSpPr>
        <p:spPr>
          <a:xfrm>
            <a:off x="4892040" y="1051560"/>
            <a:ext cx="3794760" cy="3200400"/>
          </a:xfrm>
          <a:prstGeom prst="roundRect">
            <a:avLst>
              <a:gd name="adj" fmla="val 1714"/>
            </a:avLst>
          </a:prstGeom>
          <a:solidFill>
            <a:srgbClr val="1E293B"/>
          </a:solidFill>
          <a:ln/>
        </p:spPr>
      </p:sp>
      <p:sp>
        <p:nvSpPr>
          <p:cNvPr id="23" name="TS kód hlavička"/>
          <p:cNvSpPr/>
          <p:nvPr/>
        </p:nvSpPr>
        <p:spPr>
          <a:xfrm>
            <a:off x="4892040" y="1051560"/>
            <a:ext cx="379476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24" name="TS kód hlavička spoj"/>
          <p:cNvSpPr/>
          <p:nvPr/>
        </p:nvSpPr>
        <p:spPr>
          <a:xfrm>
            <a:off x="4892040" y="1289304"/>
            <a:ext cx="379476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S kód bodka 1"/>
          <p:cNvSpPr/>
          <p:nvPr/>
        </p:nvSpPr>
        <p:spPr>
          <a:xfrm>
            <a:off x="5001768" y="11338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6" name="TS kód bodka 2"/>
          <p:cNvSpPr/>
          <p:nvPr/>
        </p:nvSpPr>
        <p:spPr>
          <a:xfrm>
            <a:off x="5148072" y="11338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7" name="TS kód bodka 3"/>
          <p:cNvSpPr/>
          <p:nvPr/>
        </p:nvSpPr>
        <p:spPr>
          <a:xfrm>
            <a:off x="5294376" y="11338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8" name="TS kód názov"/>
          <p:cNvSpPr txBox="1"/>
          <p:nvPr/>
        </p:nvSpPr>
        <p:spPr>
          <a:xfrm>
            <a:off x="5458968" y="105156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ContactCard.vue</a:t>
            </a:r>
            <a:endParaRPr lang="en-US" sz="900" dirty="0"/>
          </a:p>
        </p:txBody>
      </p:sp>
      <p:sp>
        <p:nvSpPr>
          <p:cNvPr id="29" name="TS kód"/>
          <p:cNvSpPr txBox="1"/>
          <p:nvPr/>
        </p:nvSpPr>
        <p:spPr>
          <a:xfrm>
            <a:off x="4892040" y="1307592"/>
            <a:ext cx="3794760" cy="294436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setup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"ts"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Contact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id: number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defineProps&lt;{ contact: Contact 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emit = defineEmits&lt;{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edit: [id: number]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07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88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42B883"/>
                </a:solidFill>
              </a:rPr>
              <a:t>05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Prax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inštalácia · prvý projekt · ukážka Telefónny zoznam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Ako na to</a:t>
            </a:r>
            <a:endParaRPr lang="en-US" sz="3000" dirty="0"/>
          </a:p>
        </p:txBody>
      </p:sp>
      <p:sp>
        <p:nvSpPr>
          <p:cNvPr id="3" name="Node karta"/>
          <p:cNvSpPr/>
          <p:nvPr/>
        </p:nvSpPr>
        <p:spPr>
          <a:xfrm>
            <a:off x="457200" y="1024128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</p:sp>
      <p:sp>
        <p:nvSpPr>
          <p:cNvPr id="4" name="Node rámik"/>
          <p:cNvSpPr/>
          <p:nvPr/>
        </p:nvSpPr>
        <p:spPr>
          <a:xfrm>
            <a:off x="457200" y="1024128"/>
            <a:ext cx="4023360" cy="3429000"/>
          </a:xfrm>
          <a:prstGeom prst="roundRect">
            <a:avLst>
              <a:gd name="adj" fmla="val 2133"/>
            </a:avLst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5" name="Node npm logo" descr="C:\Users\matisak\AppData\Local\Temp\claude\C--Users-matisak-projekty-vue-prednaska\1d36b638-3e33-40b1-abc4-ada18f9170e7\scratchpad\gen\img\node_npm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3474720" cy="1158240"/>
          </a:xfrm>
          <a:prstGeom prst="rect">
            <a:avLst/>
          </a:prstGeom>
        </p:spPr>
      </p:pic>
      <p:sp>
        <p:nvSpPr>
          <p:cNvPr id="6" name="Node odrážky"/>
          <p:cNvSpPr txBox="1"/>
          <p:nvPr/>
        </p:nvSpPr>
        <p:spPr>
          <a:xfrm>
            <a:off x="685800" y="269748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Node.js (LTS) + npm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– JavaScript mimo prehliadača a správca balíčkov.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Vite 8 vyžaduje Node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20.19+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alebo </a:t>
            </a:r>
            <a:pPr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22.12+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.</a:t>
            </a:r>
            <a:endParaRPr lang="en-US" sz="1350" dirty="0"/>
          </a:p>
        </p:txBody>
      </p:sp>
      <p:sp>
        <p:nvSpPr>
          <p:cNvPr id="7" name="Vite karta"/>
          <p:cNvSpPr/>
          <p:nvPr/>
        </p:nvSpPr>
        <p:spPr>
          <a:xfrm>
            <a:off x="4663440" y="1024128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</p:sp>
      <p:sp>
        <p:nvSpPr>
          <p:cNvPr id="8" name="Vite rámik"/>
          <p:cNvSpPr/>
          <p:nvPr/>
        </p:nvSpPr>
        <p:spPr>
          <a:xfrm>
            <a:off x="4663440" y="1024128"/>
            <a:ext cx="4023360" cy="3429000"/>
          </a:xfrm>
          <a:prstGeom prst="roundRect">
            <a:avLst>
              <a:gd name="adj" fmla="val 2133"/>
            </a:avLst>
          </a:prstGeom>
          <a:ln w="12700">
            <a:solidFill>
              <a:srgbClr val="E2E8F0"/>
            </a:solidFill>
            <a:prstDash val="solid"/>
          </a:ln>
        </p:spPr>
      </p:sp>
      <p:pic>
        <p:nvPicPr>
          <p:cNvPr id="9" name="Vite logo" descr="C:\Users\matisak\AppData\Local\Temp\claude\C--Users-matisak-projekty-vue-prednaska\1d36b638-3e33-40b1-abc4-ada18f9170e7\scratchpad\gen\img\v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143000"/>
            <a:ext cx="2194560" cy="1316030"/>
          </a:xfrm>
          <a:prstGeom prst="rect">
            <a:avLst/>
          </a:prstGeom>
        </p:spPr>
      </p:pic>
      <p:sp>
        <p:nvSpPr>
          <p:cNvPr id="10" name="Vite odrážky"/>
          <p:cNvSpPr txBox="1"/>
          <p:nvPr/>
        </p:nvSpPr>
        <p:spPr>
          <a:xfrm>
            <a:off x="4892040" y="269748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chemeClr val="tx1"/>
                </a:solidFill>
              </a:rPr>
              <a:t>Vite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(čítaj /vit/, po francúzsky „rýchly“) – dev server + produkčný build.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Vue CLI a webpack sú pre nové Vue projekty minulosť.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Je to fakt jednoduché, poďme na to</a:t>
            </a:r>
            <a:endParaRPr lang="en-US" sz="3000" dirty="0"/>
          </a:p>
        </p:txBody>
      </p:sp>
      <p:sp>
        <p:nvSpPr>
          <p:cNvPr id="3" name="Príkazy pozadie"/>
          <p:cNvSpPr/>
          <p:nvPr/>
        </p:nvSpPr>
        <p:spPr>
          <a:xfrm>
            <a:off x="457200" y="1051560"/>
            <a:ext cx="4206240" cy="2011680"/>
          </a:xfrm>
          <a:prstGeom prst="roundRect">
            <a:avLst>
              <a:gd name="adj" fmla="val 2727"/>
            </a:avLst>
          </a:prstGeom>
          <a:solidFill>
            <a:srgbClr val="1E293B"/>
          </a:solidFill>
          <a:ln/>
        </p:spPr>
      </p:sp>
      <p:sp>
        <p:nvSpPr>
          <p:cNvPr id="4" name="Príkazy hlavička"/>
          <p:cNvSpPr/>
          <p:nvPr/>
        </p:nvSpPr>
        <p:spPr>
          <a:xfrm>
            <a:off x="457200" y="1051560"/>
            <a:ext cx="4206240" cy="310896"/>
          </a:xfrm>
          <a:prstGeom prst="roundRect">
            <a:avLst>
              <a:gd name="adj" fmla="val 17647"/>
            </a:avLst>
          </a:prstGeom>
          <a:solidFill>
            <a:srgbClr val="0F172A"/>
          </a:solidFill>
          <a:ln/>
        </p:spPr>
      </p:sp>
      <p:sp>
        <p:nvSpPr>
          <p:cNvPr id="5" name="Príkazy hlavička spoj"/>
          <p:cNvSpPr/>
          <p:nvPr/>
        </p:nvSpPr>
        <p:spPr>
          <a:xfrm>
            <a:off x="457200" y="1289304"/>
            <a:ext cx="4206240" cy="731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Príkazy bodka 1"/>
          <p:cNvSpPr/>
          <p:nvPr/>
        </p:nvSpPr>
        <p:spPr>
          <a:xfrm>
            <a:off x="566928" y="1133856"/>
            <a:ext cx="91440" cy="9144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Príkazy bodka 2"/>
          <p:cNvSpPr/>
          <p:nvPr/>
        </p:nvSpPr>
        <p:spPr>
          <a:xfrm>
            <a:off x="713232" y="1133856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Príkazy bodka 3"/>
          <p:cNvSpPr/>
          <p:nvPr/>
        </p:nvSpPr>
        <p:spPr>
          <a:xfrm>
            <a:off x="859536" y="1133856"/>
            <a:ext cx="91440" cy="9144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Príkazy názov"/>
          <p:cNvSpPr txBox="1"/>
          <p:nvPr/>
        </p:nvSpPr>
        <p:spPr>
          <a:xfrm>
            <a:off x="1024128" y="105156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terminál</a:t>
            </a:r>
            <a:endParaRPr lang="en-US" sz="900" dirty="0"/>
          </a:p>
        </p:txBody>
      </p:sp>
      <p:sp>
        <p:nvSpPr>
          <p:cNvPr id="10" name="Príkazy"/>
          <p:cNvSpPr txBox="1"/>
          <p:nvPr/>
        </p:nvSpPr>
        <p:spPr>
          <a:xfrm>
            <a:off x="457200" y="1307592"/>
            <a:ext cx="4206240" cy="1755648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vue@latest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{projekt}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500" dirty="0"/>
          </a:p>
        </p:txBody>
      </p:sp>
      <p:sp>
        <p:nvSpPr>
          <p:cNvPr id="11" name="Príkazy poznámky"/>
          <p:cNvSpPr txBox="1"/>
          <p:nvPr/>
        </p:nvSpPr>
        <p:spPr>
          <a:xfrm>
            <a:off x="457200" y="32918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create-vue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sa spýta na TypeScript, Router, Pinia, ESLint, Vitest…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Alternatíva: </a:t>
            </a:r>
            <a:pPr indent="0" marL="0">
              <a:buNone/>
            </a:pPr>
            <a:r>
              <a:rPr lang="en-US" sz="1350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create vite@latest</a:t>
            </a:r>
            <a:endParaRPr lang="en-US" sz="1350" dirty="0"/>
          </a:p>
        </p:txBody>
      </p:sp>
      <p:pic>
        <p:nvPicPr>
          <p:cNvPr id="12" name="Meme npm install" descr="C:\Users\matisak\AppData\Local\Temp\claude\C--Users-matisak-projekty-vue-prednaska\1d36b638-3e33-40b1-abc4-ada18f9170e7\scratchpad\gen\img\meme_n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51560"/>
            <a:ext cx="3749040" cy="25018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Ukážka: Telefónny zoznam</a:t>
            </a:r>
            <a:endParaRPr lang="en-US" sz="3000" dirty="0"/>
          </a:p>
        </p:txBody>
      </p:sp>
      <p:sp>
        <p:nvSpPr>
          <p:cNvPr id="3" name="Príklad 1 karta"/>
          <p:cNvSpPr/>
          <p:nvPr/>
        </p:nvSpPr>
        <p:spPr>
          <a:xfrm>
            <a:off x="457200" y="1024128"/>
            <a:ext cx="1527048" cy="2103120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4" name="Príklad 1 číslo"/>
          <p:cNvSpPr/>
          <p:nvPr/>
        </p:nvSpPr>
        <p:spPr>
          <a:xfrm>
            <a:off x="594360" y="1161288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5" name="Príklad 1 číslo text"/>
          <p:cNvSpPr txBox="1"/>
          <p:nvPr/>
        </p:nvSpPr>
        <p:spPr>
          <a:xfrm>
            <a:off x="594360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Príklad 1 priečinok"/>
          <p:cNvSpPr txBox="1"/>
          <p:nvPr/>
        </p:nvSpPr>
        <p:spPr>
          <a:xfrm>
            <a:off x="54864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01-staticky-komponent</a:t>
            </a:r>
            <a:endParaRPr lang="en-US" sz="900" dirty="0"/>
          </a:p>
        </p:txBody>
      </p:sp>
      <p:sp>
        <p:nvSpPr>
          <p:cNvPr id="7" name="Príklad 1 popis"/>
          <p:cNvSpPr txBox="1"/>
          <p:nvPr/>
        </p:nvSpPr>
        <p:spPr>
          <a:xfrm>
            <a:off x="548640" y="202996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natvrdo zapísané dáta – takto nie</a:t>
            </a:r>
            <a:endParaRPr lang="en-US" sz="1300" dirty="0"/>
          </a:p>
        </p:txBody>
      </p:sp>
      <p:sp>
        <p:nvSpPr>
          <p:cNvPr id="8" name="Príklad 2 karta"/>
          <p:cNvSpPr/>
          <p:nvPr/>
        </p:nvSpPr>
        <p:spPr>
          <a:xfrm>
            <a:off x="2130552" y="1024128"/>
            <a:ext cx="1527048" cy="2103120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9" name="Príklad 2 číslo"/>
          <p:cNvSpPr/>
          <p:nvPr/>
        </p:nvSpPr>
        <p:spPr>
          <a:xfrm>
            <a:off x="2267712" y="1161288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10" name="Príklad 2 číslo text"/>
          <p:cNvSpPr txBox="1"/>
          <p:nvPr/>
        </p:nvSpPr>
        <p:spPr>
          <a:xfrm>
            <a:off x="2267712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Príklad 2 priečinok"/>
          <p:cNvSpPr txBox="1"/>
          <p:nvPr/>
        </p:nvSpPr>
        <p:spPr>
          <a:xfrm>
            <a:off x="2221992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02-props</a:t>
            </a:r>
            <a:endParaRPr lang="en-US" sz="900" dirty="0"/>
          </a:p>
        </p:txBody>
      </p:sp>
      <p:sp>
        <p:nvSpPr>
          <p:cNvPr id="12" name="Príklad 2 popis"/>
          <p:cNvSpPr txBox="1"/>
          <p:nvPr/>
        </p:nvSpPr>
        <p:spPr>
          <a:xfrm>
            <a:off x="2221992" y="202996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defineProps, :prop vs. prop, ref() vs. reactive()</a:t>
            </a:r>
            <a:endParaRPr lang="en-US" sz="1300" dirty="0"/>
          </a:p>
        </p:txBody>
      </p:sp>
      <p:sp>
        <p:nvSpPr>
          <p:cNvPr id="13" name="Príklad 3 karta"/>
          <p:cNvSpPr/>
          <p:nvPr/>
        </p:nvSpPr>
        <p:spPr>
          <a:xfrm>
            <a:off x="3803904" y="1024128"/>
            <a:ext cx="1527048" cy="2103120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14" name="Príklad 3 číslo"/>
          <p:cNvSpPr/>
          <p:nvPr/>
        </p:nvSpPr>
        <p:spPr>
          <a:xfrm>
            <a:off x="3941064" y="1161288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15" name="Príklad 3 číslo text"/>
          <p:cNvSpPr txBox="1"/>
          <p:nvPr/>
        </p:nvSpPr>
        <p:spPr>
          <a:xfrm>
            <a:off x="3941064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Príklad 3 priečinok"/>
          <p:cNvSpPr txBox="1"/>
          <p:nvPr/>
        </p:nvSpPr>
        <p:spPr>
          <a:xfrm>
            <a:off x="3895344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03-v-for-v-if</a:t>
            </a:r>
            <a:endParaRPr lang="en-US" sz="900" dirty="0"/>
          </a:p>
        </p:txBody>
      </p:sp>
      <p:sp>
        <p:nvSpPr>
          <p:cNvPr id="17" name="Príklad 3 popis"/>
          <p:cNvSpPr txBox="1"/>
          <p:nvPr/>
        </p:nvSpPr>
        <p:spPr>
          <a:xfrm>
            <a:off x="3895344" y="202996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v-for + :key, v-if / v-else, class binding</a:t>
            </a:r>
            <a:endParaRPr lang="en-US" sz="1300" dirty="0"/>
          </a:p>
        </p:txBody>
      </p:sp>
      <p:sp>
        <p:nvSpPr>
          <p:cNvPr id="18" name="Príklad 4 karta"/>
          <p:cNvSpPr/>
          <p:nvPr/>
        </p:nvSpPr>
        <p:spPr>
          <a:xfrm>
            <a:off x="5477256" y="1024128"/>
            <a:ext cx="1527048" cy="2103120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19" name="Príklad 4 číslo"/>
          <p:cNvSpPr/>
          <p:nvPr/>
        </p:nvSpPr>
        <p:spPr>
          <a:xfrm>
            <a:off x="5614416" y="1161288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20" name="Príklad 4 číslo text"/>
          <p:cNvSpPr txBox="1"/>
          <p:nvPr/>
        </p:nvSpPr>
        <p:spPr>
          <a:xfrm>
            <a:off x="5614416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Príklad 4 priečinok"/>
          <p:cNvSpPr txBox="1"/>
          <p:nvPr/>
        </p:nvSpPr>
        <p:spPr>
          <a:xfrm>
            <a:off x="5568696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04-emits</a:t>
            </a:r>
            <a:endParaRPr lang="en-US" sz="900" dirty="0"/>
          </a:p>
        </p:txBody>
      </p:sp>
      <p:sp>
        <p:nvSpPr>
          <p:cNvPr id="22" name="Príklad 4 popis"/>
          <p:cNvSpPr txBox="1"/>
          <p:nvPr/>
        </p:nvSpPr>
        <p:spPr>
          <a:xfrm>
            <a:off x="5568696" y="202996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defineEmits, rodič mení svoje dáta, kópia objektu</a:t>
            </a:r>
            <a:endParaRPr lang="en-US" sz="1300" dirty="0"/>
          </a:p>
        </p:txBody>
      </p:sp>
      <p:sp>
        <p:nvSpPr>
          <p:cNvPr id="23" name="Príklad 5 karta"/>
          <p:cNvSpPr/>
          <p:nvPr/>
        </p:nvSpPr>
        <p:spPr>
          <a:xfrm>
            <a:off x="7150608" y="1024128"/>
            <a:ext cx="1527048" cy="2103120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24" name="Príklad 5 číslo"/>
          <p:cNvSpPr/>
          <p:nvPr/>
        </p:nvSpPr>
        <p:spPr>
          <a:xfrm>
            <a:off x="7287768" y="1161288"/>
            <a:ext cx="420624" cy="420624"/>
          </a:xfrm>
          <a:prstGeom prst="ellipse">
            <a:avLst/>
          </a:prstGeom>
          <a:solidFill>
            <a:srgbClr val="42B883"/>
          </a:solidFill>
          <a:ln/>
        </p:spPr>
      </p:sp>
      <p:sp>
        <p:nvSpPr>
          <p:cNvPr id="25" name="Príklad 5 číslo text"/>
          <p:cNvSpPr txBox="1"/>
          <p:nvPr/>
        </p:nvSpPr>
        <p:spPr>
          <a:xfrm>
            <a:off x="7287768" y="1161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Príklad 5 priečinok"/>
          <p:cNvSpPr txBox="1"/>
          <p:nvPr/>
        </p:nvSpPr>
        <p:spPr>
          <a:xfrm>
            <a:off x="7242048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7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05-computed</a:t>
            </a:r>
            <a:endParaRPr lang="en-US" sz="900" dirty="0"/>
          </a:p>
        </p:txBody>
      </p:sp>
      <p:sp>
        <p:nvSpPr>
          <p:cNvPr id="27" name="Príklad 5 popis"/>
          <p:cNvSpPr txBox="1"/>
          <p:nvPr/>
        </p:nvSpPr>
        <p:spPr>
          <a:xfrm>
            <a:off x="7242048" y="2029968"/>
            <a:ext cx="1371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computed() v dieťati aj v rodičovi</a:t>
            </a:r>
            <a:endParaRPr lang="en-US" sz="1300" dirty="0"/>
          </a:p>
        </p:txBody>
      </p:sp>
      <p:sp>
        <p:nvSpPr>
          <p:cNvPr id="28" name="Spustenie ukážky pozadie"/>
          <p:cNvSpPr/>
          <p:nvPr/>
        </p:nvSpPr>
        <p:spPr>
          <a:xfrm>
            <a:off x="457200" y="33832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29" name="Spustenie ukážky"/>
          <p:cNvSpPr txBox="1"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2B8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addressBook &amp;&amp; npm install &amp;&amp; npm run dev</a:t>
            </a:r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8B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príklady: tlačidlá alebo #1 – #5 v URL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Zdroje</a:t>
            </a:r>
            <a:endParaRPr lang="en-US" sz="3000" dirty="0"/>
          </a:p>
        </p:txBody>
      </p:sp>
      <p:sp>
        <p:nvSpPr>
          <p:cNvPr id="3" name="Oficiálna dokumentácia"/>
          <p:cNvSpPr txBox="1"/>
          <p:nvPr/>
        </p:nvSpPr>
        <p:spPr>
          <a:xfrm>
            <a:off x="457200" y="1024128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</a:rPr>
              <a:t>Oficiálna dokumentácia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vuejs.org/guide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vuejs.org – Reactivity in Depth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vuejs.org – Connection to Signals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react.dev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angular.dev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svelte.dev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vite.dev</a:t>
            </a:r>
            <a:endParaRPr lang="en-US" sz="1400" dirty="0"/>
          </a:p>
        </p:txBody>
      </p:sp>
      <p:sp>
        <p:nvSpPr>
          <p:cNvPr id="4" name="Ďalšie zdroje"/>
          <p:cNvSpPr txBox="1"/>
          <p:nvPr/>
        </p:nvSpPr>
        <p:spPr>
          <a:xfrm>
            <a:off x="4663440" y="1024128"/>
            <a:ext cx="4023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</a:rPr>
              <a:t>Ďalšie zdroje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MDN – Document Object Model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TC39 – Signals proposal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npmtrends.com – porovnanie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u="sng" dirty="0">
                <a:solidFill>
                  <a:srgbClr val="2563EB"/>
                </a:solidFill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api.npmjs.org – dáta grafu</a:t>
            </a:r>
            <a:endParaRPr lang="en-US" sz="1400" dirty="0"/>
          </a:p>
        </p:txBody>
      </p:sp>
      <p:sp>
        <p:nvSpPr>
          <p:cNvPr id="5" name="Zdroje obrázkov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Obrázky: w3schools.com (DOM), tonynguyenit.medium.com (Virtual DOM), learnvue.co (životný cyklus)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ont-end frameworky">
  <a:themeElements>
    <a:clrScheme name="Front-end frameworky">
      <a:dk1>
        <a:srgbClr val="1E293B"/>
      </a:dk1>
      <a:lt1>
        <a:srgbClr val="FFFFFF"/>
      </a:lt1>
      <a:dk2>
        <a:srgbClr val="0F172A"/>
      </a:dk2>
      <a:lt2>
        <a:srgbClr val="F1F5F9"/>
      </a:lt2>
      <a:accent1>
        <a:srgbClr val="42B883"/>
      </a:accent1>
      <a:accent2>
        <a:srgbClr val="35495E"/>
      </a:accent2>
      <a:accent3>
        <a:srgbClr val="149ECA"/>
      </a:accent3>
      <a:accent4>
        <a:srgbClr val="F59E0B"/>
      </a:accent4>
      <a:accent5>
        <a:srgbClr val="E11D48"/>
      </a:accent5>
      <a:accent6>
        <a:srgbClr val="8B5CF6"/>
      </a:accent6>
      <a:hlink>
        <a:srgbClr val="2563EB"/>
      </a:hlink>
      <a:folHlink>
        <a:srgbClr val="7C3AED"/>
      </a:folHlink>
    </a:clrScheme>
    <a:fontScheme name="Front-end framework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Front-end frameworky</dc:title>
  <dc:subject>Webové technológie I. – 2026/2027</dc:subject>
  <dc:creator>Ing. Jakub Matišák, PhD.</dc:creator>
  <cp:lastModifiedBy>Ing. Jakub Matišák, PhD.</cp:lastModifiedBy>
  <cp:revision>1</cp:revision>
  <dcterms:created xsi:type="dcterms:W3CDTF">2026-10-20T08:03:08Z</dcterms:created>
  <dcterms:modified xsi:type="dcterms:W3CDTF">2026-10-20T08:03:08Z</dcterms:modified>
</cp:coreProperties>
</file>